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33" r:id="rId14"/>
    <p:sldId id="301" r:id="rId15"/>
    <p:sldId id="302" r:id="rId16"/>
    <p:sldId id="335" r:id="rId17"/>
    <p:sldId id="336" r:id="rId18"/>
    <p:sldId id="305" r:id="rId19"/>
    <p:sldId id="306" r:id="rId20"/>
    <p:sldId id="337" r:id="rId21"/>
    <p:sldId id="308" r:id="rId22"/>
    <p:sldId id="309" r:id="rId23"/>
    <p:sldId id="338" r:id="rId24"/>
    <p:sldId id="311" r:id="rId25"/>
    <p:sldId id="312" r:id="rId26"/>
    <p:sldId id="339" r:id="rId27"/>
    <p:sldId id="340" r:id="rId28"/>
    <p:sldId id="341" r:id="rId29"/>
    <p:sldId id="342" r:id="rId30"/>
    <p:sldId id="343" r:id="rId31"/>
    <p:sldId id="318" r:id="rId32"/>
    <p:sldId id="319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36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" y="1572768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물리학과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11480" y="1883664"/>
            <a:ext cx="1920240" cy="274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" y="195681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케이에스모듈테크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" y="2286000"/>
            <a:ext cx="2615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대표이사  김복기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596896"/>
            <a:ext cx="1920240" cy="27432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" y="267004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solidFill>
            <a:srgbClr val="FFB86C">
              <a:alpha val="85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017520" y="32918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14" name="Text 11"/>
          <p:cNvSpPr/>
          <p:nvPr/>
        </p:nvSpPr>
        <p:spPr>
          <a:xfrm>
            <a:off x="3017520" y="1024128"/>
            <a:ext cx="5852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워크플로우 &amp; 고급 자동화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017520" y="15910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설치부터 Hooks·Sub-Agent·Skills까지 — 120분 완성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017520" y="1993392"/>
            <a:ext cx="1865376" cy="329184"/>
          </a:xfrm>
          <a:prstGeom prst="rect">
            <a:avLst/>
          </a:prstGeom>
          <a:solidFill>
            <a:srgbClr val="50FA7B">
              <a:alpha val="18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17520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설치 &amp; 환경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10912" y="1993392"/>
            <a:ext cx="1865376" cy="329184"/>
          </a:xfrm>
          <a:prstGeom prst="rect">
            <a:avLst/>
          </a:prstGeom>
          <a:solidFill>
            <a:srgbClr val="8BE9FD">
              <a:alpha val="18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10912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컨텍스트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04304" y="1993392"/>
            <a:ext cx="1865376" cy="329184"/>
          </a:xfrm>
          <a:prstGeom prst="rect">
            <a:avLst/>
          </a:prstGeom>
          <a:solidFill>
            <a:srgbClr val="50FA7B">
              <a:alpha val="18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04304" y="199339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워크플로우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017520" y="2414016"/>
            <a:ext cx="1865376" cy="329184"/>
          </a:xfrm>
          <a:prstGeom prst="rect">
            <a:avLst/>
          </a:prstGeom>
          <a:solidFill>
            <a:srgbClr val="F1FA8C">
              <a:alpha val="18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0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Skills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10912" y="2414016"/>
            <a:ext cx="1865376" cy="329184"/>
          </a:xfrm>
          <a:prstGeom prst="rect">
            <a:avLst/>
          </a:prstGeom>
          <a:solidFill>
            <a:srgbClr val="FFB86C">
              <a:alpha val="18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10912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Sub-Agent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004304" y="2414016"/>
            <a:ext cx="1865376" cy="329184"/>
          </a:xfrm>
          <a:prstGeom prst="rect">
            <a:avLst/>
          </a:prstGeom>
          <a:solidFill>
            <a:srgbClr val="FF5555">
              <a:alpha val="18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04304" y="2414016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Hooks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E1F2A"/>
          </a:solidFill>
          <a:ln w="12700">
            <a:solidFill>
              <a:srgbClr val="1E1F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0" y="49057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2회차 — 실전 워크플로우 &amp; 고급 자동화  ·  부산대학교 고분자공학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112111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세미나 목표 &amp; 타임라인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강연 60분 + 실습 60분 = 총 120분 / 노트북 필수 지참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2852928" cy="502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6736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9326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설치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1280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설치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완전 셋업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0" y="804672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0" y="804672"/>
            <a:ext cx="2852928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31673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22192" y="9326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제어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822192" y="1280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절약·CLAUDE.md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전략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99632" y="804672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99632" y="804672"/>
            <a:ext cx="2852928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316736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21424" y="9326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자동화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821424" y="1280160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작성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공유 시스템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201168" y="2743200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01168" y="2743200"/>
            <a:ext cx="2852928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5526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2871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 병렬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22960" y="321868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실행으로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3배 빠른 작업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3200400" y="2743200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FF5555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200400" y="2743200"/>
            <a:ext cx="2852928" cy="5029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255264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22192" y="2871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자동화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822192" y="321868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워크플로우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199632" y="2743200"/>
            <a:ext cx="2852928" cy="178308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199632" y="2743200"/>
            <a:ext cx="2852928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255264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21424" y="2871216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 종합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821424" y="3218688"/>
            <a:ext cx="212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팀급 생산성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완성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7998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1회차 핵심 복습 (30초 리마인드)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2회차는 '제어'입니다 — 1회차는 Claude를 '쓰는 법', 2회차는 Claude를 '부리는 법'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2852928" cy="146304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2852928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87782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3요소 공식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12618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+ 맥락 + 형식 = 좋은 답변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91256" y="804672"/>
            <a:ext cx="2852928" cy="146304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91256" y="804672"/>
            <a:ext cx="2852928" cy="502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76472" y="87782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개념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2618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= 재사용 가능한 업무 매뉴얼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804672"/>
            <a:ext cx="2852928" cy="146304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804672"/>
            <a:ext cx="2852928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877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6560" y="87782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원칙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1261872"/>
            <a:ext cx="25786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기밀 데이터 입력 금지 / 결과물 검증 필수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" y="2395728"/>
            <a:ext cx="8741664" cy="2084832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2395728"/>
            <a:ext cx="73152" cy="208483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달라지는 것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28163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28163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입문자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28163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실사용자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1821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182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 OK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31821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필수 (Claude Code 설치)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5478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011680" y="3547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쓰는 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0" y="3547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제어·자동화하는 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수준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011680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입력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0" y="3913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생성·설정·스크립트 작성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1244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50FA7B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설치 &amp; 셋업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설치부터 첫 실행까지 — 15분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93096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 준비물 확인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항목이 모두 준비되어야 실습 참여 가능합니다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4279392" cy="502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331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93268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18 이상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" y="126187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확인: node --version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1248" y="153619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v18.x 이상이면 OK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41248" y="1810512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nodejs.org 에서 LTS 버전 설치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81728" y="804672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81728" y="804672"/>
            <a:ext cx="4279392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5331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21808" y="932688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(Windows)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321808" y="126187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확인: PowerShell / cmd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321808" y="153619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윈도우 기본 탑재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321808" y="1810512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Windows Terminal 설치 권장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01168" y="2798064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01168" y="2798064"/>
            <a:ext cx="4279392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346704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41248" y="29260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41248" y="325526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확인: code --version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41248" y="352958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아무 버전이나 OK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41248" y="3803904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code.visualstudio.com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681728" y="2798064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681728" y="2798064"/>
            <a:ext cx="4279392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46704"/>
            <a:ext cx="365760" cy="3657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21808" y="292608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Claude.ai 계정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5321808" y="325526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확인: claude.ai 접속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5321808" y="3529584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Pro 이상 권장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5321808" y="3803904"/>
            <a:ext cx="35112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무료 계정도 일부 기능 사용 가능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648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설치 방법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한 줄로 전 세계 어디서든 설치 — Windows / Mac / Linux 동일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8778240" cy="1536192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8778240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Claude Code 전역 설치 (터미널/PowerShell에서 실행)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@anthropic-ai/claude-code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설치 확인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Claude Code v2.1.xx 출력되면 성공!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2450592"/>
            <a:ext cx="4279392" cy="2084832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542032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542032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2542032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743200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79806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로그인 (claude.ai 계정)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07238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login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334670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브라우저 자동 오픈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62102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Claude.ai 로그인 후 승인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389534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터미널에 ✓ Logged in 표시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45152" y="2450592"/>
            <a:ext cx="4462272" cy="2084832"/>
          </a:xfrm>
          <a:prstGeom prst="rect">
            <a:avLst/>
          </a:prstGeom>
          <a:solidFill>
            <a:srgbClr val="1E1F2A"/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42032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6048" y="2542032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57216" y="2542032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45152" y="2743200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79806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첫 실행 테스트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07238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프로젝트폴더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34670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62102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&gt; 프롬프트 나타나면 성공!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895344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종료: /exit 또는 Ctrl+C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4023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인터페이스 &amp; 필수 명령어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보면 낯설지만 — 5개만 알면 바로 시작 가능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786384"/>
            <a:ext cx="2852928" cy="1389888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786384"/>
            <a:ext cx="2852928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595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모드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21408" y="877824"/>
            <a:ext cx="804672" cy="237744"/>
          </a:xfrm>
          <a:prstGeom prst="rect">
            <a:avLst/>
          </a:prstGeom>
          <a:solidFill>
            <a:srgbClr val="8BE9FD">
              <a:alpha val="25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877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기본값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118872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대화 모드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읽기·수정 가능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91256" y="786384"/>
            <a:ext cx="2852928" cy="1389888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91256" y="786384"/>
            <a:ext cx="2852928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8595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11496" y="877824"/>
            <a:ext cx="804672" cy="237744"/>
          </a:xfrm>
          <a:prstGeom prst="rect">
            <a:avLst/>
          </a:prstGeom>
          <a:solidFill>
            <a:srgbClr val="FFB86C">
              <a:alpha val="25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11496" y="877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5848" y="118872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계획만 세우고 실행 안 함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작업 전 반드시 사용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1344" y="786384"/>
            <a:ext cx="2852928" cy="1389888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786384"/>
            <a:ext cx="2852928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85953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Mode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01584" y="877824"/>
            <a:ext cx="804672" cy="237744"/>
          </a:xfrm>
          <a:prstGeom prst="rect">
            <a:avLst/>
          </a:prstGeom>
          <a:solidFill>
            <a:srgbClr val="BD93F9">
              <a:alpha val="25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1584" y="8778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--dangerously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5936" y="1188720"/>
            <a:ext cx="25786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없이 자동 실행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신뢰할 때만 사용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4592" y="2286000"/>
            <a:ext cx="877824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3225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3225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23225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쓰나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64592" y="2615184"/>
            <a:ext cx="8778240" cy="347472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92024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완전 초기화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작업 시작 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4592" y="2980944"/>
            <a:ext cx="8778240" cy="347472"/>
          </a:xfrm>
          <a:prstGeom prst="rect">
            <a:avLst/>
          </a:prstGeom>
          <a:solidFill>
            <a:srgbClr val="313450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9202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압축 (맥락 유지)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9496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절반 줄이기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64592" y="3346704"/>
            <a:ext cx="8778240" cy="347472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2024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확인·편집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94960" y="3383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내용 관리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64592" y="3712464"/>
            <a:ext cx="8778240" cy="347472"/>
          </a:xfrm>
          <a:prstGeom prst="rect">
            <a:avLst/>
          </a:prstGeom>
          <a:solidFill>
            <a:srgbClr val="313450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" y="3749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9202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사용량 확인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9496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낭비 체크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164592" y="4078224"/>
            <a:ext cx="8778240" cy="347472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4114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/voice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92024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입력 모드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9496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프롬프트 말로 입력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4592" y="4443984"/>
            <a:ext cx="8778240" cy="347472"/>
          </a:xfrm>
          <a:prstGeom prst="rect">
            <a:avLst/>
          </a:prstGeom>
          <a:solidFill>
            <a:srgbClr val="313450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/exit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92024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종료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9496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종료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139728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설치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파일 구조 &amp; settings.json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구조만 이해하면 Skills·Hooks·Agent 모두 활용 가능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3566160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 폴더 구조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             # 개인 전역 설정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settings.json         # 훅·권한·설정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               # 개인 스킬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ppt-gen/SKILL.md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               # 개인 에이전트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                # 프로젝트 설정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settings.json         # 프로젝트 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602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               # 팀 공유 스킬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8770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               # 팀 에이전트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1513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CLAUDE.md             # 프로젝트 지시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45152" y="786384"/>
            <a:ext cx="4462272" cy="3566160"/>
          </a:xfrm>
          <a:prstGeom prst="rect">
            <a:avLst/>
          </a:prstGeom>
          <a:solidFill>
            <a:srgbClr val="1E1F2A"/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1338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settings.json 기본 구조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4081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16824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19568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"allow": ["Bash(*)"],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2311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7797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0540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"Stop": [...],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328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"PostToolUse": [...]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36027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38770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"claude-sonnet-4-6"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41513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066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8BE9FD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관리 전략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아끼면 성능이 오른다 — 12분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35178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Lazy Loading 전략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내용을 CLAUDE.md에 넣으면 매 세션마다 수천 토큰 낭비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2834640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나쁜 예 — 직접 작성 (토큰 낭비)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API 엔드포인트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- 로그인 처리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 - 회원가입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/api/users/:id - 유저 조회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(50개 더)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DB 스키마 (테이블 30개)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602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786384"/>
            <a:ext cx="4462272" cy="2834640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1338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좋은 예 — 참조만 (Lazy Loading)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14081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6824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9568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프로젝트 문서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2311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API 스펙:    @docs/api-spec.md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DB 스키마:   @docs/db-schema.md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7797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인증 설계:   @docs/auth.md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0540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코딩 규칙:   @docs/conventions.md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328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6027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Claude는 필요할 때만 파일 읽음!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64592" y="3730752"/>
            <a:ext cx="8778240" cy="914400"/>
          </a:xfrm>
          <a:prstGeom prst="rect">
            <a:avLst/>
          </a:prstGeom>
          <a:solidFill>
            <a:srgbClr val="313450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3730752"/>
            <a:ext cx="73152" cy="91440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785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폴더별 CLAUDE.md 분리: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" y="405993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src/auth/CLAUDE.md · src/payments/CLAUDE.md — 해당 폴더 작업 시에만 로드되어 컨텍스트 bloat 방지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048315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/memory &amp; 한 세션 = 한 피처 원칙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/memory로 Second Brain 구축 + 컨텍스트 윈도우 전략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2194560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/memory 사용법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중요한 것을 발견하면: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이 내용 기억해줘: JWT 대신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세션 기반 인증 사용 (모바일 이슈)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저장 확인: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/memory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MEMORY.md 편집창 열림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저장위치: ~/.claude/projects/&lt;proj&gt;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6027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/memory/MEMORY.md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45152" y="786384"/>
            <a:ext cx="4462272" cy="2194560"/>
          </a:xfrm>
          <a:prstGeom prst="rect">
            <a:avLst/>
          </a:prstGeom>
          <a:solidFill>
            <a:srgbClr val="1E1F2A"/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1338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한 세션 = 한 피처 워크플로우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14081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6824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Plan Mode에서 설계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9568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Shift+Tab 으로 Plan Mode 전환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2311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전체 작업을 단계별로 설계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7797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첫 번째 단계만 실행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0540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/clear  # 컨텍스트 초기화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328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1단계 작업 지시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6027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8770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완료 → 다음 단계 반복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" y="3090672"/>
            <a:ext cx="8778240" cy="1536192"/>
          </a:xfrm>
          <a:prstGeom prst="rect">
            <a:avLst/>
          </a:prstGeom>
          <a:solidFill>
            <a:srgbClr val="313450"/>
          </a:solidFill>
          <a:ln w="10160">
            <a:solidFill>
              <a:srgbClr val="6272A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" y="3090672"/>
            <a:ext cx="8778240" cy="256032"/>
          </a:xfrm>
          <a:prstGeom prst="rect">
            <a:avLst/>
          </a:prstGeom>
          <a:solidFill>
            <a:srgbClr val="6272A4">
              <a:alpha val="50000"/>
            </a:srgbClr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10896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/clear vs /compact — 언제 뭘 쓰나?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34198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645920" y="3419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완전 삭제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749040" y="34198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피처 시작, 완전히 다른 작업으로 전환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4320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645920" y="38221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유지하며 압축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74904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작업 계속, 토큰만 절약하고 싶을 때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4713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50FA7B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워크플로우 철학 &amp; 코딩 패턴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→ TDD → 에러처리 → WAT — 13분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575200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2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8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 먼저 + TDD 루프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4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없이 실행 = 재앙 / 작은 변경 → 테스트 → 커밋 반복이 핵심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4032504"/>
          </a:xfrm>
          <a:prstGeom prst="rect">
            <a:avLst/>
          </a:prstGeom>
          <a:solidFill>
            <a:srgbClr val="1E1F2A"/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Plan Mode 사용법 (Shift+Tab)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8988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4592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Plan Mode 진입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0195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Shift+Tab  # 모드 전환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15798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접착제 견적 시스템에 PDF 출력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4140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기능을 추가해줘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67004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9260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Claude가 계획 제시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18211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수정할 파일 목록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43814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접근 방식 설명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6941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예상 단계 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95020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420624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계획 검토 후 승인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446227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좋아, 진행해줘 (Accept Mode로 전환)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786384"/>
            <a:ext cx="4462272" cy="4032504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TDD 스마트 코딩 루프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13624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15910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작은 단위로 구현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18196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PDF 출력 함수 하나만 먼저 구현해줘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0482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2768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테스트 돌리기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25054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pytest tests/test_pdf.py -v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27340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9626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린트 체크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1912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ruff check . &amp;&amp; mypy 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4198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6484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커밋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38770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git add . &amp;&amp; git commit -m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41056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'feat: add PDF export function'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43342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73168" y="4562856"/>
            <a:ext cx="4242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다음 기능으로 반복!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47868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처리 &amp; TODO.md 활용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로그 그대로 붙여넣기 + TODO.md로 세션 연속성 유지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1993392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나쁜 예 — 해석해서 전달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로그인 할 때 뭔가 오류가 나요...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좋은 예 — 스택트레이스 통째로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아래 에러 해결해줘: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Traceback (most recent call last):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 'app.py', line 47 in login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jwt.ExpiredSignatureError: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Signature has expired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45152" y="786384"/>
            <a:ext cx="4462272" cy="1993392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1338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TODO.md 하루 시작 루틴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14081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16824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TODO.md에 오늘 할 일 작성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9568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PDF 출력 기능 구현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22311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견적서 템플릿 3종 추가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50545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DB 스키마 수정 (완료)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77977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305409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Claude에게 지시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328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TODO.md 읽고 첫 번째 항목부터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360273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시작해줘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4592" y="2889504"/>
            <a:ext cx="8778240" cy="1609344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2889504"/>
            <a:ext cx="73152" cy="1609344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WAT 프레임워크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9184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— Workflow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14016" y="325526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plain English로 단계 먼저 정의 → Plan Mode로 연결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9184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— Agents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414016" y="3657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Self-healing + Sub-agent 병렬 처리로 3배 빠르게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9184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— Tools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414016" y="405993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스크립트 1개 ❌  →  작은 원자적 도구 여러 개 ✅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23314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1FA8C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심화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작성법 + 부산대학교 고분자공학 맞춤 스킬 설계 — 10분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832452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8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2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SKILL.md 완전 정복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6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description이 전부다 — 트리거 문장 3개 이상, 첫 줄에 핵심 기능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8778240" cy="4032504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8778240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완성된 SKILL.md 예시 (접착제 견적서 스킬)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25880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517904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quotation-generator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709928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"접착제 제품 견적서 자동 생성. '견적서 만들어줘',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1901952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'견적 뽑아줘', '단가표 작성', '비용 산출' 요청 시 자동 트리거."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093976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286000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478024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목적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670048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수신 회사명과 품목 목록을 입력받아 전문적인 견적서를 생성합니다.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2862072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054096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절차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246120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수신 회사명, 품목(품목명/수량/단가) 확인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438144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합계 금액 자동 계산 (VAT 10% 별도 표기)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630168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케이에스모듈테크 회사 정보 자동 삽입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822192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Excel(.xlsx) + PDF 두 파일 동시 생성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4014216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" y="4206240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자체 검증 체크리스트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4398264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모든 품목 합계가 정확한가?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4590288"/>
            <a:ext cx="8558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회사 로고·직인 위치가 올바른가?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9499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2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8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 활용 + 부산대학교 고분자공학 추천 스킬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4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skill-creator가 SKILL.md를 자동 작성 — '스킬 만들어줘' 한 마디면 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1975104"/>
          </a:xfrm>
          <a:prstGeom prst="rect">
            <a:avLst/>
          </a:prstGeom>
          <a:solidFill>
            <a:srgbClr val="1E1F2A"/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skill-creator 설치 &amp; 사용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89888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/install-plugin skill-creator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4592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01952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후 바로 사용: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15798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접착제 견적서 만드는 스킬 만들어줘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41401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SKILL.md 자동 생성 + 최적화!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5152" y="84124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4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고분자공학 추천 스킬 6종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5152" y="1188720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1188720"/>
            <a:ext cx="2066544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801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quotation-generator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517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'견적서 만들어줘'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xlsx+PDF 동시 생성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1188720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188720"/>
            <a:ext cx="2066544" cy="502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12801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report-writer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67728" y="151790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'보고서 작성해줘'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67728" y="171907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주간·실험 보고서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45152" y="2569464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45152" y="2569464"/>
            <a:ext cx="2066544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6609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spec-translator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8986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'스펙 번역해줘'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30998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기술문서 한↔영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2569464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569464"/>
            <a:ext cx="2066544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66090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patent-search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67728" y="2898648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'특허 조사해줘'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67728" y="30998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요약·분석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45152" y="3950208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45152" y="3950208"/>
            <a:ext cx="2066544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0416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meeting-minutes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42793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'회의록 정리해줘'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480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키워드→회의록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3950208"/>
            <a:ext cx="2066544" cy="905256"/>
          </a:xfrm>
          <a:prstGeom prst="rect">
            <a:avLst/>
          </a:prstGeom>
          <a:solidFill>
            <a:srgbClr val="313450"/>
          </a:solidFill>
          <a:ln w="15240">
            <a:solidFill>
              <a:srgbClr val="FF79C6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3950208"/>
            <a:ext cx="2066544" cy="50292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67728" y="40416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email-draft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67728" y="427939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'이메일 써줘'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67728" y="44805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 이메일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64592" y="2798064"/>
            <a:ext cx="4279392" cy="1984248"/>
          </a:xfrm>
          <a:prstGeom prst="rect">
            <a:avLst/>
          </a:prstGeom>
          <a:solidFill>
            <a:srgbClr val="1E1F2A"/>
          </a:solidFill>
          <a:ln w="10160">
            <a:solidFill>
              <a:srgbClr val="6272A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288950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" y="288950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" y="288950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64592" y="309067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" y="298094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스킬 저장 위치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92608" y="319125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개인용 (내 모든 프로젝트)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2608" y="340156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~/.claude/skills/&lt;name&gt;/SKILL.md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92608" y="361188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92608" y="382219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팀 공유 (Git 커밋해서 공유)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92608" y="403250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.claude/skills/&lt;name&gt;/SKILL.md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92608" y="424281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.claude/skills/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92608" y="445312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'add quotation skill'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778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FB86C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 &amp; 병렬 실행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심부름꾼에게 맡기고 결과만 받기 — 10분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075564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 개념 &amp; 내장 5종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Claude 안에서 별도 작업 공간을 가진 도우미 — 컨텍스트 분리가 핵심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2999232" cy="3547872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786384"/>
            <a:ext cx="2999232" cy="4572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859536"/>
            <a:ext cx="2779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Claude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243584"/>
            <a:ext cx="2578608" cy="713232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316736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(탐색)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21408"/>
            <a:ext cx="2578608" cy="713232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(수정)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99232"/>
            <a:ext cx="2578608" cy="713232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72384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(테스트)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93192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↑ 요약만 메인으로 반환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786384"/>
            <a:ext cx="5623560" cy="310896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8229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9392" y="82296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82296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14416" y="82296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1170432"/>
            <a:ext cx="5623560" cy="585216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124358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79392" y="124358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56048" y="124358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읽기전용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14416" y="124358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탐색·파일 검색·구조 파악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0128" y="1810512"/>
            <a:ext cx="5623560" cy="585216"/>
          </a:xfrm>
          <a:prstGeom prst="rect">
            <a:avLst/>
          </a:prstGeom>
          <a:solidFill>
            <a:srgbClr val="313450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188366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79392" y="188366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188366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읽기전용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14416" y="188366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Mode에서 계획 수립 연구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10128" y="2450592"/>
            <a:ext cx="5623560" cy="585216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01568" y="252374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279392" y="252374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56048" y="252374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도구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14416" y="252374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탐색+수정 복잡한 다단계 작업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310128" y="3090672"/>
            <a:ext cx="5623560" cy="585216"/>
          </a:xfrm>
          <a:prstGeom prst="rect">
            <a:avLst/>
          </a:prstGeom>
          <a:solidFill>
            <a:srgbClr val="313450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31638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79392" y="316382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56048" y="316382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Bash만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14416" y="316382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컨텍스트 터미널 명령 실행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310128" y="3730752"/>
            <a:ext cx="5623560" cy="585216"/>
          </a:xfrm>
          <a:prstGeom prst="rect">
            <a:avLst/>
          </a:prstGeom>
          <a:solidFill>
            <a:srgbClr val="1E1F2A"/>
          </a:solidFill>
          <a:ln w="2540">
            <a:solidFill>
              <a:srgbClr val="6272A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380390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Guide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279392" y="380390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Haiku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56048" y="3803904"/>
            <a:ext cx="585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읽기전용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14416" y="3803904"/>
            <a:ext cx="3218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기능 질문 답변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688103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2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8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에이전트 만들기 &amp; 병렬 패턴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4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/agents 명령어로 5단계 마법사 — code-reviewer 실전 예시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3154680"/>
          </a:xfrm>
          <a:prstGeom prst="rect">
            <a:avLst/>
          </a:prstGeom>
          <a:solidFill>
            <a:srgbClr val="1E1F2A"/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커스텀 에이전트 YAML 구조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4416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55448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76479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"코드 리뷰 전문가.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197510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품질·보안·모범사례 검토."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18541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Glob, Bash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39572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60604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816352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026664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 시 자동으로: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236976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git diff로 최근 변경 확인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447288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수정된 파일에 집중 리뷰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657600"/>
            <a:ext cx="4059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피드백: 🔴크리티컬 🟡경고 🟢제안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45152" y="786384"/>
            <a:ext cx="4462272" cy="3154680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1133856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병렬 실행 실전 패턴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1344168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1554480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동시에 3가지 작업: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1764792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Sub-Agent로 다음을 병렬 처리: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1975104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프론트엔드 PDF 컴포넌트 수정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185416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백엔드 PDF 생성 API 작성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395728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테스트 코드 작성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2606040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2816352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순차 15분 → 병렬 5분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3026664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236976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주의: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447288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Sub-Agent끼리 직접 통신 불가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657600"/>
            <a:ext cx="4242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의존성 있는 작업은 순차로!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64592" y="3995928"/>
            <a:ext cx="8778240" cy="822960"/>
          </a:xfrm>
          <a:prstGeom prst="rect">
            <a:avLst/>
          </a:prstGeom>
          <a:solidFill>
            <a:srgbClr val="313450"/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2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독립적 작업 병렬 분배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127248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2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명확한 역할·범위 지정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33872" y="4133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2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의존성 작업 무리한 병렬화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1236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F5555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자동화 엔진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발생 → 자동 실행 — 10분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06466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5555">
              <a:alpha val="80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JSON 구조 &amp; 4가지 이벤트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→ matcher 조건 검사 → 액션 자동 실행 — Claude는 기다림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645152" cy="3200400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64515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settings.json Hook 기본 구조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"Stop": [         ← 이벤트 타입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"matcher": "*",  ← 조건 (전부)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"hooks": [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"command",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60273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"알림 명령어"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8770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415137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442569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470001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497433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52486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56048" y="786384"/>
            <a:ext cx="3968496" cy="786384"/>
          </a:xfrm>
          <a:prstGeom prst="rect">
            <a:avLst/>
          </a:prstGeom>
          <a:solidFill>
            <a:srgbClr val="313450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786384"/>
            <a:ext cx="54864" cy="786384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859536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84064" y="1133856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도구 호출 직전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84064" y="1335024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입력값 검증·승인·차단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56048" y="1682496"/>
            <a:ext cx="3968496" cy="786384"/>
          </a:xfrm>
          <a:prstGeom prst="rect">
            <a:avLst/>
          </a:prstGeom>
          <a:solidFill>
            <a:srgbClr val="313450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1682496"/>
            <a:ext cx="54864" cy="786384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17556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84064" y="2029968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도구 실행 직후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84064" y="223113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린트·포맷·후처리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56048" y="2578608"/>
            <a:ext cx="3968496" cy="786384"/>
          </a:xfrm>
          <a:prstGeom prst="rect">
            <a:avLst/>
          </a:prstGeom>
          <a:solidFill>
            <a:srgbClr val="313450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56048" y="2578608"/>
            <a:ext cx="54864" cy="786384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2651760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84064" y="292608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사용자 응답 대기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84064" y="31272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알림 전송·로깅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56048" y="3474720"/>
            <a:ext cx="3968496" cy="786384"/>
          </a:xfrm>
          <a:prstGeom prst="rect">
            <a:avLst/>
          </a:prstGeom>
          <a:solidFill>
            <a:srgbClr val="313450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56048" y="3474720"/>
            <a:ext cx="54864" cy="786384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3547872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84064" y="3822192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 에이전트 턴 종료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84064" y="402336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보고서 생성·상태 저장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90152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5555">
              <a:alpha val="80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2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68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고분자공학 맞춤 Hook 레시피 3종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4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"Claude에게 Hook 만들어줘" 한 마디면 settings.json에 자동 추가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2075688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Hook 1: 작업 완료 Windows 알림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167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{"Stop": [{"matcher":"*","hooks":[{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4996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"type":"command",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6824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"powershell -c \"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186537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[console]::beep(1000,500);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0482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Add-Type -AssemblyName PresentationFramework;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2311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[System.Windows.MessageBox]::Show(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4140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'Claude 작업 완료!')\""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5968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}]}]}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45152" y="786384"/>
            <a:ext cx="4462272" cy="2075688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13385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Hook 2: 파일 저장 후 자동 린트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131673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{"PostToolUse":[{"matcher":"Write",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149961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"hooks":[{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68249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"type":"command",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86537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"command":"cd $PROJECT_ROOT &amp;&amp;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04825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ruff check --fix . &amp;&amp;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23113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echo '✓ 린트 완료'"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41401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259689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64592" y="2916936"/>
            <a:ext cx="8778240" cy="1371600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2990088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" y="2990088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2990088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4592" y="3172968"/>
            <a:ext cx="8778240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" y="3154680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Hook 3: Bash 도구 사용 시 위험 명령어 감지 (PreToolUse)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92608" y="3300984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{"PreToolUse":[{"matcher":"Bash","hooks":[{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" y="3447288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"type":"command",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2608" y="3593592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 "bash -c 'echo $CLAUDE_TOOL_INPUT | grep -q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2608" y="3739896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\"rm -rf\" &amp;&amp; echo BLOCKED &amp;&amp; exit 1 || exit 0'"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2608" y="3886200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}]}]}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2608" y="4032504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rm -rf 명령어 자동 차단! 보안 강화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64592" y="4343400"/>
            <a:ext cx="8778240" cy="475488"/>
          </a:xfrm>
          <a:prstGeom prst="rect">
            <a:avLst/>
          </a:prstGeom>
          <a:solidFill>
            <a:srgbClr val="6272A4">
              <a:alpha val="15000"/>
            </a:srgbClr>
          </a:solidFill>
          <a:ln w="6350">
            <a:solidFill>
              <a:srgbClr val="6272A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" y="439826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1" b="1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Hook 실행 중 Claude는 멈추고 기다림 → timeout 필수 설정 / 무거운 작업은 백그라운드(&amp;)로 실행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38661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BD93F9">
              <a:alpha val="80000"/>
            </a:srgbClr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8단계 파이프라인 — WAT 시너지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10개 → 30분 자동 처리 : 음성입력 → MCP → Sub-Agent → Hooks → 보고서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FF79C6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2084832" cy="50292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969264"/>
            <a:ext cx="548640" cy="54864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969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10896" y="16093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9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입력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" y="193852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피드백을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30초에 전달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39696" y="153619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32304" y="804672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2304" y="804672"/>
            <a:ext cx="2084832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2112" y="969264"/>
            <a:ext cx="548640" cy="54864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969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542032" y="16093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검증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42032" y="193852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모델로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품질 체크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70832" y="153619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804672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804672"/>
            <a:ext cx="2084832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3248" y="969264"/>
            <a:ext cx="548640" cy="548640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13248" y="969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73168" y="16093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3168" y="193852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프론트/백엔드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작업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01968" y="153619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94576" y="804672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94576" y="804672"/>
            <a:ext cx="2084832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44384" y="969264"/>
            <a:ext cx="548640" cy="548640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44384" y="969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04304" y="1609344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/batch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04304" y="1938528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파일 4개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수정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833104" y="153619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01168" y="2889504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50FA7B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1168" y="2889504"/>
            <a:ext cx="2084832" cy="50292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0976" y="3054096"/>
            <a:ext cx="548640" cy="548640"/>
          </a:xfrm>
          <a:prstGeom prst="rect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10896" y="36941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0FA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 스크립트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10896" y="402336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테스트+린트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원커맨드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39696" y="36210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432304" y="2889504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FF5555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432304" y="2889504"/>
            <a:ext cx="2084832" cy="5029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82112" y="3054096"/>
            <a:ext cx="548640" cy="548640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82112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2542032" y="36941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 Hook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542032" y="402336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알림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발송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70832" y="36210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663440" y="2889504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2889504"/>
            <a:ext cx="2084832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13248" y="3054096"/>
            <a:ext cx="548640" cy="548640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13248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4773168" y="36941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에이전트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773168" y="402336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검증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601968" y="362102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272A4"/>
                </a:solidFill>
              </a:rPr>
              <a:t>▶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94576" y="2889504"/>
            <a:ext cx="2084832" cy="1901952"/>
          </a:xfrm>
          <a:prstGeom prst="rect">
            <a:avLst/>
          </a:prstGeom>
          <a:solidFill>
            <a:srgbClr val="313450"/>
          </a:solidFill>
          <a:ln w="15240">
            <a:solidFill>
              <a:srgbClr val="BD93F9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94576" y="2889504"/>
            <a:ext cx="2084832" cy="5029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44384" y="3054096"/>
            <a:ext cx="548640" cy="54864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44384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7004304" y="36941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스킬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004304" y="402336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자동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92582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FF79C6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세션 시작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0" y="2176272"/>
            <a:ext cx="4754880" cy="36576"/>
          </a:xfrm>
          <a:prstGeom prst="rect">
            <a:avLst/>
          </a:prstGeom>
          <a:solidFill>
            <a:srgbClr val="FF79C6"/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286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 → CLAUDE.md → Skills → Sub-Agent → Hooks — 60분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4270791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50FA7B">
              <a:alpha val="80000"/>
            </a:srgbClr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8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2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확인 &amp; 환경 점검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6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시작 전 모든 참가자가 아래 명령어 실행 — 강사와 함께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4032504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Node.js 버전 확인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167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node --version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4996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v18.0.0 이상이면 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6824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186537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Claude Code 설치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0482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 -g @anthropic-ai/claude-code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2311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4140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설치 확인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5968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--version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277977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Code v2.1.xx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29626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1455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로그인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3284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 login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35112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브라우저 열림 → 승인 → 완료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69417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387705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⑤ 테스트 실행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" y="405993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~/jblab-test &amp;&amp; cd ~/jblab-test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" y="424281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2608" y="4425696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&gt; 프롬프트 나타나면 성공! 🎉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45152" y="786384"/>
            <a:ext cx="4462272" cy="4032504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133856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❗ 오류 발생 시 해결법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1325880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1517904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1: npm not found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1709928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nodejs.org 에서 LTS 설치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1901952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(Node 포함 npm 자동 설치됨)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2093976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2286000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2: permission denied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2478024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npm install -g \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2670048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@anthropic-ai/claude-code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2862072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(Mac/Linux)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73168" y="3054096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73168" y="3246120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3: login 실패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73168" y="3438144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claude.ai Pro 계정 필요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73168" y="3630168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브라우저 팝업 차단 해제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73168" y="3822192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73168" y="4014216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오류 4: 버전 오래됨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73168" y="4206240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update -g \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73168" y="4398264"/>
            <a:ext cx="4242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@anthropic-ai/claude-code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84419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8BE9FD">
              <a:alpha val="80000"/>
            </a:srgbClr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+ /memory 실습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부산대학교 고분자공학 프로젝트용 CLAUDE.md 작성 + 메모리 저장 체험 — 10분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프로젝트 폴더 만들기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~/jblab-project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5727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~/jblab-project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7922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0116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23113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CLAUDE.md 생성 요청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45059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우리 회사는 부산대학교 고분자공학이야. 접착제를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67004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연구하는 회사고, 주요 제품은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88950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에폭시·아크릴·우레탄 접착제야.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10896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이 정보로 CLAUDE.md를 만들어줘.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32841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상세 내용은 별도 파일로 분리하는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54787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Lazy Loading 구조로 만들어줘.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76732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398678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CLAUDE.md + docs/ 폴더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786384"/>
            <a:ext cx="446227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BD93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/memory 체험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135331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기억해줘: 부산대학교 고분자공학의 주요 고객사는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157276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삼성전자, LG전자, 현대자동차야.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17922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01168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/memory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23113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MEMORY.md 편집창 열림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245059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방금 저장된 내용 확인!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267004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8895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새 세션에서 확인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10896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/clear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32841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우리 주요 고객사 알아?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54787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삼성전자, LG전자 등 기억함!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376732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398678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💡 세션 종료해도 기억 유지됨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4592" y="4370832"/>
            <a:ext cx="8778240" cy="438912"/>
          </a:xfrm>
          <a:prstGeom prst="rect">
            <a:avLst/>
          </a:prstGeom>
          <a:solidFill>
            <a:srgbClr val="8BE9FD">
              <a:alpha val="12000"/>
            </a:srgbClr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44074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완료 확인: CLAUDE.md 파일 생성 + /memory 저장 + /clear 후에도 기억 유지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4688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1FA8C">
              <a:alpha val="80000"/>
            </a:srgbClr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견적서 스킬 직접 만들기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skill-creator 설치 → 견적서 스킬 생성 → 호출 테스트 — 15분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" y="786384"/>
            <a:ext cx="427939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skill-creator 설치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5331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/install-plugin skill-creator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57276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완료 메시지 확인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79222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0116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스킬 생성 요청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23113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케이에스모듈테크 전용 견적서를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45059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자동 생성하는 스킬을 만들어줘.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67004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xlsx 파일로 출력하고, 품목명/수량/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88950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단가를 입력받아 합계를 자동 계산해.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10896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'견적서 만들어줘', '견적 뽑아줘'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328416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말하면 자동으로 실행되게 해줘.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547872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767328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.claude/skills/quotation-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3986784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generator/SKILL.md 생성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45152" y="786384"/>
            <a:ext cx="446227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50FA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스킬 호출 테스트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133502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견적서 만들어줘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1536192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스킬 자동 트리거!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173736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수신회사·품목 질문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193852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13969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상세 입력 테스트: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234086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삼성전자 앞으로 견적서 만들어줘.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2542032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품목: 에폭시 접착제 100개 5000원,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74320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아크릴 접착제 200개 3000원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294436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145536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견적서.xlsx 파일 생성!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34670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3547872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스킬 파일 확인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3749040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.claude/skills/quotation-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3950208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generator/SKILL.md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64592" y="4370832"/>
            <a:ext cx="8778240" cy="438912"/>
          </a:xfrm>
          <a:prstGeom prst="rect">
            <a:avLst/>
          </a:prstGeom>
          <a:solidFill>
            <a:srgbClr val="F1FA8C">
              <a:alpha val="12000"/>
            </a:srgbClr>
          </a:solidFill>
          <a:ln w="6350">
            <a:solidFill>
              <a:srgbClr val="F1FA8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4074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완료 확인: SKILL.md 파일 생성 + '견적서 만들어줘' 입력 시 xlsx 파일 자동 생성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0653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B86C">
              <a:alpha val="80000"/>
            </a:srgbClr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 병렬 실행 체험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에이전트 생성 → 병렬 작업 실행 → 시간 비교 — 15분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FFB86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커스텀 에이전트 만들기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40817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/agents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68249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Create new agent 선택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9568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Project-level 선택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223113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Generate with Claude 선택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50545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이 에이전트는 접착제 기술 문서를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77977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영어로 번역하는 전문가야.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305409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Read, Write 도구만 사용하고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3284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Haiku 모델로 빠르게 번역해줘.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360273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87705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저장: .claude/agents/translator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45152" y="786384"/>
            <a:ext cx="446227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8BE9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1190" y="11338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병렬 실행 테스트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135331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Sub-Agent로 다음 두 작업을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57276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동시에 해줘: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17922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1) 에폭시 접착제 스펙 문서를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01168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translator 에이전트로 영어 번역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23113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2) 번역된 내용으로 고객사에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245059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보낼 이메일 초안 작성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267004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8895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결과: 두 작업 동시 실행!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10896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332841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시간 비교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354787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순차 실행: ~8분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76732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병렬 실행: ~3분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98678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약 2.5배 빠름!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4592" y="4370832"/>
            <a:ext cx="8778240" cy="438912"/>
          </a:xfrm>
          <a:prstGeom prst="rect">
            <a:avLst/>
          </a:prstGeom>
          <a:solidFill>
            <a:srgbClr val="FFB86C">
              <a:alpha val="12000"/>
            </a:srgbClr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032" y="44074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완료 확인: .claude/agents/ 폴더 생성 + 두 작업이 동시 실행되는 것 확인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78169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5555">
              <a:alpha val="80000"/>
            </a:srgbClr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설정 — 작업 완료 자동 알림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'Hook 만들어줘' 한 마디 → settings.json 자동 설정 — 10분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786384"/>
            <a:ext cx="427939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FF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1078992"/>
            <a:ext cx="427939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13385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알림 Hook 요청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2608" y="133502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작업이 끝나면 Windows에서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" y="153619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소리 알림이 오게 Hook 만들어줘.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173736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10초간 반복 비프음으로.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193852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2608" y="213969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Claude가 자동으로 생성: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" y="234086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~/.claude/settings.json 에 추가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2608" y="254203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{"hooks":{"Stop":[{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274320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"matcher":"*",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" y="294436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"hooks":[{"type":"command",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" y="3145536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"command":"powershell -c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2608" y="334670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'1..10|%{[console]::beep(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2608" y="3547872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1000,500);Start-Sleep 0.5}'"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" y="3749040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" y="3950208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}]}}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45152" y="786384"/>
            <a:ext cx="4462272" cy="3529584"/>
          </a:xfrm>
          <a:prstGeom prst="rect">
            <a:avLst/>
          </a:prstGeom>
          <a:solidFill>
            <a:srgbClr val="1E1F2A"/>
          </a:solidFill>
          <a:ln w="10160">
            <a:solidFill>
              <a:srgbClr val="F1FA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877824"/>
            <a:ext cx="118872" cy="118872"/>
          </a:xfrm>
          <a:prstGeom prst="ellipse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56048" y="877824"/>
            <a:ext cx="118872" cy="118872"/>
          </a:xfrm>
          <a:prstGeom prst="ellipse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7216" y="877824"/>
            <a:ext cx="118872" cy="118872"/>
          </a:xfrm>
          <a:prstGeom prst="ellipse">
            <a:avLst/>
          </a:prstGeom>
          <a:solidFill>
            <a:srgbClr val="50FA7B"/>
          </a:solidFill>
          <a:ln w="12700">
            <a:solidFill>
              <a:srgbClr val="50FA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45152" y="1078992"/>
            <a:ext cx="4462272" cy="22860"/>
          </a:xfrm>
          <a:prstGeom prst="rect">
            <a:avLst/>
          </a:prstGeom>
          <a:solidFill>
            <a:srgbClr val="6272A4"/>
          </a:solidFill>
          <a:ln w="12700">
            <a:solidFill>
              <a:srgbClr val="6272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13385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Hook 동작 확인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135331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간단한 작업 시켜서 Hook 테스트: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157276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'안녕'이라고 답장해줘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17922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01168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답장 후 비프음 발생 확인!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223113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245059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PostToolUse Hook 추가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267004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파일을 수정할 때마다 자동으로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288950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'echo 파일 수정됨'을 출력하는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73168" y="310896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Hook도 추가해줘.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328416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3547872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settings.json 확인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3767328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~/.claude/settings.json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73168" y="398678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두 Hook 모두 설정됨 확인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64592" y="4370832"/>
            <a:ext cx="8778240" cy="438912"/>
          </a:xfrm>
          <a:prstGeom prst="rect">
            <a:avLst/>
          </a:prstGeom>
          <a:solidFill>
            <a:srgbClr val="FF5555">
              <a:alpha val="12000"/>
            </a:srgbClr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440740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완료 확인: 작업 완료 시 소리 알림 + 파일 수정 시 메시지 출력 동작 확인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577401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79C6">
              <a:alpha val="8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실습 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실습 &amp; 나만의 파이프라인 구성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것을 조합해서 부산대학교 고분자공학 업무에 맞는 자동화 파이프라인 만들기 — 10분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4279392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고도화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280160"/>
            <a:ext cx="3931920" cy="1152144"/>
          </a:xfrm>
          <a:prstGeom prst="rect">
            <a:avLst/>
          </a:prstGeom>
          <a:solidFill>
            <a:srgbClr val="1E1F2A"/>
          </a:solidFill>
          <a:ln w="6350">
            <a:solidFill>
              <a:srgbClr val="8BE9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353312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우리 회사 특성에 맞게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CLAUDE.md를 더 상세하게 작성해줘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81728" y="804672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804672"/>
            <a:ext cx="4279392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32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추가 생성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3931920" cy="1152144"/>
          </a:xfrm>
          <a:prstGeom prst="rect">
            <a:avLst/>
          </a:prstGeom>
          <a:solidFill>
            <a:srgbClr val="1E1F2A"/>
          </a:solidFill>
          <a:ln w="6350">
            <a:solidFill>
              <a:srgbClr val="F1F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353312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논문 요약 스킬 만들어줘.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영문 논문 → 한국어 3줄 요약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2798064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01168" y="2798064"/>
            <a:ext cx="4279392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업무 적용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3931920" cy="1152144"/>
          </a:xfrm>
          <a:prstGeom prst="rect">
            <a:avLst/>
          </a:prstGeom>
          <a:solidFill>
            <a:srgbClr val="1E1F2A"/>
          </a:solidFill>
          <a:ln w="6350">
            <a:solidFill>
              <a:srgbClr val="FFB8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346704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보고서 작성 + 번역을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동시에 Sub-Agent로 처리해줘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2798064"/>
            <a:ext cx="4279392" cy="1828800"/>
          </a:xfrm>
          <a:prstGeom prst="rect">
            <a:avLst/>
          </a:prstGeom>
          <a:solidFill>
            <a:srgbClr val="313450"/>
          </a:solidFill>
          <a:ln w="15240">
            <a:solidFill>
              <a:srgbClr val="FF5555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798064"/>
            <a:ext cx="4279392" cy="5029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 커스터마이징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3273552"/>
            <a:ext cx="3931920" cy="1152144"/>
          </a:xfrm>
          <a:prstGeom prst="rect">
            <a:avLst/>
          </a:prstGeom>
          <a:solidFill>
            <a:srgbClr val="1E1F2A"/>
          </a:solidFill>
          <a:ln w="6350">
            <a:solidFill>
              <a:srgbClr val="FF55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346704"/>
            <a:ext cx="3785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실험 데이터 파일 저장 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자동으로 백업본 만드는 Hook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05536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8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313450"/>
          </a:solidFill>
          <a:ln w="12700">
            <a:solidFill>
              <a:srgbClr val="31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87468"/>
            <a:ext cx="1920240" cy="256032"/>
          </a:xfrm>
          <a:prstGeom prst="rect">
            <a:avLst/>
          </a:prstGeom>
          <a:solidFill>
            <a:srgbClr val="BD93F9"/>
          </a:solidFill>
          <a:ln w="12700">
            <a:solidFill>
              <a:srgbClr val="BD93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9057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실전 워크플로우 &amp; 고급 자동화 세미나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0" y="49057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부산대학교 고분자공학 ·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solidFill>
            <a:srgbClr val="FF79C6">
              <a:alpha val="80000"/>
            </a:srgbClr>
          </a:solidFill>
          <a:ln w="12700">
            <a:solidFill>
              <a:srgbClr val="FF7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73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7315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 &amp; 다음 단계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75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72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수고하셨습니다! 오늘 완성한 것들을 확인해보세요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" y="804672"/>
            <a:ext cx="4279392" cy="1737360"/>
          </a:xfrm>
          <a:prstGeom prst="rect">
            <a:avLst/>
          </a:prstGeom>
          <a:solidFill>
            <a:srgbClr val="313450"/>
          </a:solidFill>
          <a:ln w="15240">
            <a:solidFill>
              <a:srgbClr val="8BE9FD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804672"/>
            <a:ext cx="4279392" cy="50292"/>
          </a:xfrm>
          <a:prstGeom prst="rect">
            <a:avLst/>
          </a:prstGeom>
          <a:solidFill>
            <a:srgbClr val="8BE9FD"/>
          </a:solidFill>
          <a:ln w="12700">
            <a:solidFill>
              <a:srgbClr val="8BE9FD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16736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932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E9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Lazy Loading 구조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지식 베이스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81728" y="804672"/>
            <a:ext cx="4279392" cy="1737360"/>
          </a:xfrm>
          <a:prstGeom prst="rect">
            <a:avLst/>
          </a:prstGeom>
          <a:solidFill>
            <a:srgbClr val="313450"/>
          </a:solidFill>
          <a:ln w="15240">
            <a:solidFill>
              <a:srgbClr val="F1FA8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81728" y="804672"/>
            <a:ext cx="4279392" cy="50292"/>
          </a:xfrm>
          <a:prstGeom prst="rect">
            <a:avLst/>
          </a:prstGeom>
          <a:solidFill>
            <a:srgbClr val="F1FA8C"/>
          </a:solidFill>
          <a:ln w="12700">
            <a:solidFill>
              <a:srgbClr val="F1FA8C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16736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932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Skills 2종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303520" y="1280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견적서 자동화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매뉴얼 시스템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01168" y="2706624"/>
            <a:ext cx="4279392" cy="1737360"/>
          </a:xfrm>
          <a:prstGeom prst="rect">
            <a:avLst/>
          </a:prstGeom>
          <a:solidFill>
            <a:srgbClr val="313450"/>
          </a:solidFill>
          <a:ln w="15240">
            <a:solidFill>
              <a:srgbClr val="FFB86C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01168" y="2706624"/>
            <a:ext cx="4279392" cy="50292"/>
          </a:xfrm>
          <a:prstGeom prst="rect">
            <a:avLst/>
          </a:prstGeom>
          <a:solidFill>
            <a:srgbClr val="FFB86C"/>
          </a:solidFill>
          <a:ln w="12700">
            <a:solidFill>
              <a:srgbClr val="FFB86C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1868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에이전트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22960" y="31821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전문 에이전트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 경험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81728" y="2706624"/>
            <a:ext cx="4279392" cy="1737360"/>
          </a:xfrm>
          <a:prstGeom prst="rect">
            <a:avLst/>
          </a:prstGeom>
          <a:solidFill>
            <a:srgbClr val="313450"/>
          </a:solidFill>
          <a:ln w="15240">
            <a:solidFill>
              <a:srgbClr val="FF5555"/>
            </a:solidFill>
            <a:prstDash val="solid"/>
          </a:ln>
          <a:effectLst>
            <a:outerShdw blurRad="635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81728" y="2706624"/>
            <a:ext cx="4279392" cy="50292"/>
          </a:xfrm>
          <a:prstGeom prst="rect">
            <a:avLst/>
          </a:prstGeom>
          <a:solidFill>
            <a:srgbClr val="FF5555"/>
          </a:solidFill>
          <a:ln w="12700">
            <a:solidFill>
              <a:srgbClr val="FF5555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18688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0352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Hooks 2종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303520" y="31821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알림 자동화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8F8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수정 감지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164592" y="4663440"/>
            <a:ext cx="8778240" cy="182880"/>
          </a:xfrm>
          <a:prstGeom prst="rect">
            <a:avLst/>
          </a:prstGeom>
          <a:solidFill>
            <a:srgbClr val="BD93F9">
              <a:alpha val="12000"/>
            </a:srgbClr>
          </a:solidFill>
          <a:ln w="6350">
            <a:solidFill>
              <a:srgbClr val="BD93F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56032" y="468172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D93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  3회차 예고: Local LLM 서버 구축 + API 프록시 + 완전 보안 환경 — 날짜 별도 공지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05834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2D9C9F-F615-454E-B9BD-F8E1A945FD44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44e0d67b-8d15-40e4-b571-564515fd659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3940</Words>
  <Application>Microsoft Office PowerPoint</Application>
  <PresentationFormat>화면 슬라이드 쇼(16:9)</PresentationFormat>
  <Paragraphs>762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6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2회차 — 실전 워크플로우 &amp; 고급 자동화</dc:title>
  <dc:subject>PptxGenJS Presentation</dc:subject>
  <dc:creator>김복기</dc:creator>
  <cp:lastModifiedBy>Bog Kim</cp:lastModifiedBy>
  <cp:revision>3</cp:revision>
  <dcterms:created xsi:type="dcterms:W3CDTF">2026-03-21T08:23:53Z</dcterms:created>
  <dcterms:modified xsi:type="dcterms:W3CDTF">2026-04-15T10:37:40Z</dcterms:modified>
</cp:coreProperties>
</file>