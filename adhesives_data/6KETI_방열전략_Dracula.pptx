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0" r:id="rId13"/>
    <p:sldId id="281" r:id="rId14"/>
    <p:sldId id="28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92" y="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679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ccentBar"/>
          <p:cNvSpPr>
            <a:spLocks noGrp="1"/>
          </p:cNvSpPr>
          <p:nvPr/>
        </p:nvSpPr>
        <p:spPr>
          <a:xfrm>
            <a:off x="0" y="6400000"/>
            <a:ext cx="9144000" cy="57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565C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37474F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5080">
            <a:solidFill>
              <a:srgbClr val="44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44475A"/>
          </a:solidFill>
          <a:ln w="12700">
            <a:solidFill>
              <a:srgbClr val="4447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0"/>
            <a:ext cx="10972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KETI  방열 기술 분석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00584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2"/>
                </a:solidFill>
              </a:rPr>
              <a:t>세계 일류 방열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2"/>
                </a:solidFill>
              </a:rPr>
              <a:t>연구기관으로의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2"/>
                </a:solidFill>
              </a:rPr>
              <a:t>도약 전략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272A4"/>
                </a:solidFill>
              </a:rPr>
              <a:t>SWOT 분석 · 글로벌 트렌드 갭 진단 · 전략적 제언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E9FD"/>
                </a:solidFill>
              </a:rPr>
              <a:t>Korea Electronics Technology Institute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548640"/>
            <a:ext cx="2286000" cy="502920"/>
          </a:xfrm>
          <a:prstGeom prst="rect">
            <a:avLst/>
          </a:prstGeom>
          <a:solidFill>
            <a:srgbClr val="FF79C6">
              <a:alpha val="20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548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9C6"/>
                </a:solidFill>
              </a:rPr>
              <a:t>방열 소재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1353312"/>
            <a:ext cx="2286000" cy="502920"/>
          </a:xfrm>
          <a:prstGeom prst="rect">
            <a:avLst/>
          </a:prstGeom>
          <a:solidFill>
            <a:srgbClr val="BD93F9">
              <a:alpha val="2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135331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93F9"/>
                </a:solidFill>
              </a:rPr>
              <a:t>방열 기판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157984"/>
            <a:ext cx="2286000" cy="502920"/>
          </a:xfrm>
          <a:prstGeom prst="rect">
            <a:avLst/>
          </a:prstGeom>
          <a:solidFill>
            <a:srgbClr val="8BE9FD">
              <a:alpha val="2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15798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E9FD"/>
                </a:solidFill>
              </a:rPr>
              <a:t>방열 접착제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2962656"/>
            <a:ext cx="2286000" cy="502920"/>
          </a:xfrm>
          <a:prstGeom prst="rect">
            <a:avLst/>
          </a:prstGeom>
          <a:solidFill>
            <a:srgbClr val="50FA7B">
              <a:alpha val="2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9626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</a:rPr>
              <a:t>방열 시트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9400" y="3767328"/>
            <a:ext cx="2286000" cy="502920"/>
          </a:xfrm>
          <a:prstGeom prst="rect">
            <a:avLst/>
          </a:prstGeom>
          <a:solidFill>
            <a:srgbClr val="FFB86C">
              <a:alpha val="2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7673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6C"/>
                </a:solidFill>
              </a:rPr>
              <a:t>TIM / TCC / IMS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272A4"/>
                </a:solidFill>
              </a:rPr>
              <a:t>2025  |  전략 제언 보고서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129723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BE9FD"/>
                </a:solidFill>
              </a:rPr>
              <a:t>C O N T E N T 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E9FD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9144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KETI 방열 기술 현황 개요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19072"/>
            <a:ext cx="54864" cy="64008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D93F9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71907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SWOT 분석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23744"/>
            <a:ext cx="54864" cy="64008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237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0FA7B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52374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강점 (Strengths)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28416"/>
            <a:ext cx="54864" cy="64008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2841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555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32841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약점 (Weaknesses)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33088"/>
            <a:ext cx="54864" cy="64008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3308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A8C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413308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기회 (Opportunities)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914400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914400"/>
            <a:ext cx="54864" cy="64008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914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86C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9144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위협 (Threats)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1719072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1719072"/>
            <a:ext cx="54864" cy="640080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71907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9C6"/>
                </a:solidFill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23560" y="1719072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글로벌 트렌드 갭 분석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2523744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2523744"/>
            <a:ext cx="54864" cy="64008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5237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E9FD"/>
                </a:solidFill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23560" y="252374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전략적 제언 1 — 기술·연구 방향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37760" y="3328416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328416"/>
            <a:ext cx="54864" cy="64008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32841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D93F9"/>
                </a:solidFill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623560" y="332841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전략적 제언 2 — 조직·생태계 혁신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4133088"/>
            <a:ext cx="4114800" cy="640080"/>
          </a:xfrm>
          <a:prstGeom prst="rect">
            <a:avLst/>
          </a:prstGeom>
          <a:solidFill>
            <a:srgbClr val="44475A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4133088"/>
            <a:ext cx="54864" cy="64008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413308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0FA7B"/>
                </a:solidFill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623560" y="413308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</a:rPr>
              <a:t>결론 및 로드맵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01 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8F2"/>
                </a:solidFill>
              </a:rPr>
              <a:t>KETI 방열 기술 현황 개요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BD9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D93F9"/>
                </a:solidFill>
              </a:rPr>
              <a:t>12+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</a:rPr>
              <a:t>보유 특허 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</a:rPr>
              <a:t>(방열 분야)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60604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8BE9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716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BE9FD"/>
                </a:solidFill>
              </a:rPr>
              <a:t>6명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315968" y="137160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</a:rPr>
              <a:t>분야별 대표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</a:rPr>
              <a:t>연구자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325880"/>
            <a:ext cx="260604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37160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0FA7B"/>
                </a:solidFill>
              </a:rPr>
              <a:t>3대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168896" y="137160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</a:rPr>
              <a:t>핵심 기술 분류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</a:rPr>
              <a:t>(TIM·TCC·IMS)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1965960" cy="1828800"/>
          </a:xfrm>
          <a:prstGeom prst="rect">
            <a:avLst/>
          </a:prstGeom>
          <a:solidFill>
            <a:srgbClr val="44475A"/>
          </a:solidFill>
          <a:ln w="15240">
            <a:solidFill>
              <a:srgbClr val="FF79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1965960" cy="292608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560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탄소계 방열 기술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28803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그래핀·CNT 기반 방열판/시트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복합소재 필러 배향 기술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560320"/>
            <a:ext cx="1965960" cy="1828800"/>
          </a:xfrm>
          <a:prstGeom prst="rect">
            <a:avLst/>
          </a:prstGeom>
          <a:solidFill>
            <a:srgbClr val="44475A"/>
          </a:solidFill>
          <a:ln w="15240">
            <a:solidFill>
              <a:srgbClr val="BD93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2560320"/>
            <a:ext cx="1965960" cy="292608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60904" y="2560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고기능 방열 기술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60904" y="28803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방열 접착제·방열시트·PCB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세라믹/실리콘 복합소재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1965960" cy="1828800"/>
          </a:xfrm>
          <a:prstGeom prst="rect">
            <a:avLst/>
          </a:prstGeom>
          <a:solidFill>
            <a:srgbClr val="44475A"/>
          </a:solidFill>
          <a:ln w="15240">
            <a:solidFill>
              <a:srgbClr val="8BE9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560320"/>
            <a:ext cx="1965960" cy="292608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60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발광소자 방열 기술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9744" y="28803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LED·디스플레이 패키지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열전도성 기판 설계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60320"/>
            <a:ext cx="1965960" cy="1828800"/>
          </a:xfrm>
          <a:prstGeom prst="rect">
            <a:avLst/>
          </a:prstGeom>
          <a:solidFill>
            <a:srgbClr val="44475A"/>
          </a:solidFill>
          <a:ln w="15240">
            <a:solidFill>
              <a:srgbClr val="FFB86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2560320"/>
            <a:ext cx="1965960" cy="292608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58584" y="2560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전도성 잉크 기술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8584" y="28803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은나노잉크 기반 전도성 기판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롤투롤 인쇄 공정 적용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</a:rPr>
              <a:t>출처: 한국전자기술연구원 사업화유망기술: 방열 (2024.12)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02  SWOT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8F2"/>
                </a:solidFill>
              </a:rPr>
              <a:t>SWOT 분석 매트릭스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4251960" cy="1810512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4251960" cy="32004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S  강점 Strengths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81912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그래핀·CNT 탄소계 핵심특허 다수 보유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기판·접착제·시트 풀스택 커버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정부 R&amp;D 프로그램 지속적 수행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전기차·LED·반도체 실적 레퍼런스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51960" cy="1810512"/>
          </a:xfrm>
          <a:prstGeom prst="rect">
            <a:avLst/>
          </a:prstGeom>
          <a:solidFill>
            <a:srgbClr val="44475A"/>
          </a:solidFill>
          <a:ln w="19050">
            <a:solidFill>
              <a:srgbClr val="FF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4251960" cy="32004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W  약점 Weaknesses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581912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논문·특허 인용지수 글로벌 Top 저조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SCI급 저널 게재 실적 부족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TRL 4~5 단계에 집중, 양산이전 미약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글로벌 공동연구 네트워크 부재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200400"/>
            <a:ext cx="4251960" cy="1810512"/>
          </a:xfrm>
          <a:prstGeom prst="rect">
            <a:avLst/>
          </a:prstGeom>
          <a:solidFill>
            <a:srgbClr val="44475A"/>
          </a:solidFill>
          <a:ln w="19050">
            <a:solidFill>
              <a:srgbClr val="F1F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200400"/>
            <a:ext cx="4251960" cy="32004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0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O  기회 Opportunities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547872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AI 데이터센터·전기차 방열 수요 급등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정부의 이종소재 접합 국산화 전략품목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2D 소재·위상소자 신규 방열 시장 개척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글로벌 팹리스의 열관리 아웃소싱 확대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4251960" cy="1810512"/>
          </a:xfrm>
          <a:prstGeom prst="rect">
            <a:avLst/>
          </a:prstGeom>
          <a:solidFill>
            <a:srgbClr val="44475A"/>
          </a:solidFill>
          <a:ln w="19050">
            <a:solidFill>
              <a:srgbClr val="FFB8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200400"/>
            <a:ext cx="4251960" cy="32004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T  위협 Threats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547872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일본·미국·독일 대형 화학사 기술 압도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중국의 저가 방열소재 시장 잠식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탄소중립 규제로 공정 전환 비용 급증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반도체 패키지 내재화로 TIM 시장 위축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1234440"/>
            <a:ext cx="0" cy="3749040"/>
          </a:xfrm>
          <a:prstGeom prst="line">
            <a:avLst/>
          </a:prstGeom>
          <a:noFill/>
          <a:ln w="12700">
            <a:solidFill>
              <a:srgbClr val="6272A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28600" y="3154680"/>
            <a:ext cx="8686800" cy="0"/>
          </a:xfrm>
          <a:prstGeom prst="line">
            <a:avLst/>
          </a:prstGeom>
          <a:noFill/>
          <a:ln w="12700">
            <a:solidFill>
              <a:srgbClr val="6272A4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03–04  S / 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</a:rPr>
              <a:t>강점 상세 분석  &amp;  약점 진단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71016"/>
            <a:ext cx="64008" cy="103327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</a:rPr>
              <a:t>풀스택 방열 포트폴리오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TIM·TCC·IMS 전 분야 동시 보유 — 기판·접착제·시트 원스톱 솔루션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59736"/>
            <a:ext cx="64008" cy="103327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</a:rPr>
              <a:t>탄소계 소재 원천 특허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그래핀·CNT 기반 고방열 복합소재 특허 다수. 판상형 방열필러 배향 제어 기술은 세계적 수준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48456"/>
            <a:ext cx="64008" cy="103327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</a:rPr>
              <a:t>정부 R&amp;D 연속 수행 실적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전기차·5G·반도체 분야 국가과제 연속 수행으로 실증 데이터 축적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26187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F5555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271016"/>
            <a:ext cx="64008" cy="103327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555"/>
                </a:solidFill>
              </a:rPr>
              <a:t>글로벌 가시성 부족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645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Nature/Science급·국제 방열 전문지 게재 실적 미흡. 인용 지수 저조로 글로벌 인지도 한계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45059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F5555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59736"/>
            <a:ext cx="64008" cy="103327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555"/>
                </a:solidFill>
              </a:rPr>
              <a:t>TRL 전환 역량 미흡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TRL 4~5 단계에서 정체. 파일럿·양산 이전을 위한 공정 scale-up 인프라 부족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63931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F5555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648456"/>
            <a:ext cx="64008" cy="103327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555"/>
                </a:solidFill>
              </a:rPr>
              <a:t>산학연 글로벌 네트워크 단절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MIT·ETH Zürich·일본 NIMS 등 세계 방열 선도 기관과의 공식 MOU 부재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1188720"/>
            <a:ext cx="0" cy="3840480"/>
          </a:xfrm>
          <a:prstGeom prst="line">
            <a:avLst/>
          </a:prstGeom>
          <a:noFill/>
          <a:ln w="10160">
            <a:solidFill>
              <a:srgbClr val="6272A4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05–06  O / 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</a:rPr>
              <a:t>기회 요인  &amp;  위협 요인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1FA8C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71016"/>
            <a:ext cx="64008" cy="103327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</a:rPr>
              <a:t>AI·데이터센터 방열 폭발적 수요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GPU 칩 열밀도 2030년 1kW/cm² 예상. 고성능 TIM 및 액냉 접착제 수요 급증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1FA8C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59736"/>
            <a:ext cx="64008" cy="103327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</a:rPr>
              <a:t>전기차 파워모듈 국산화 정책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정부 이종소재 접합 고기능 접착제 국산화 전략 — KETI 직접 수혜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1FA8C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48456"/>
            <a:ext cx="64008" cy="103327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</a:rPr>
              <a:t>2D 소재·위상 소재 신시장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h-BN·MXene 기반 차세대 방열 소재 기술 선점 시 글로벌 퍼스트무버 기회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26187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FB86C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271016"/>
            <a:ext cx="64008" cy="103327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2984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6C"/>
                </a:solidFill>
              </a:rPr>
              <a:t>글로벌 대형 화학사 기술 격차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645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Henkel·Shin-Etsu·Dexerials의 R&amp;D 투자 KETI 대비 100배 이상. 특허 포위망 구축 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45059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FB86C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459736"/>
            <a:ext cx="64008" cy="103327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6C"/>
                </a:solidFill>
              </a:rPr>
              <a:t>중국 저가 소재 시장 잠식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2834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다이나믹 프라이싱으로 국내 중소기업 납품처 위협. KETI 기술 이전 파트너 기반 흔들림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639312"/>
            <a:ext cx="4023360" cy="1051560"/>
          </a:xfrm>
          <a:prstGeom prst="rect">
            <a:avLst/>
          </a:prstGeom>
          <a:solidFill>
            <a:srgbClr val="44475A"/>
          </a:solidFill>
          <a:ln w="19050">
            <a:solidFill>
              <a:srgbClr val="FFB86C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648456"/>
            <a:ext cx="64008" cy="103327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6C"/>
                </a:solidFill>
              </a:rPr>
              <a:t>반도체 패키지 내재화 트렌드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TSMC·삼성전자 자체 TIM 개발 가속화로 외부 조달 감소 우려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1188720"/>
            <a:ext cx="0" cy="3840480"/>
          </a:xfrm>
          <a:prstGeom prst="line">
            <a:avLst/>
          </a:prstGeom>
          <a:noFill/>
          <a:ln w="10160">
            <a:solidFill>
              <a:srgbClr val="6272A4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07  GAP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</a:rPr>
              <a:t>글로벌 트렌드 갭 분석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272A4"/>
                </a:solidFill>
              </a:rPr>
              <a:t>세계 선도 기관 대비 KETI 기술 성숙도 비교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8595360" cy="34747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기술 분야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글로벌 현황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5087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KETI 현황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15087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Gap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01952"/>
            <a:ext cx="8595360" cy="384048"/>
          </a:xfrm>
          <a:prstGeom prst="rect">
            <a:avLst/>
          </a:prstGeom>
          <a:solidFill>
            <a:srgbClr val="44475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019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액체 금속 TIM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190195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상용화 진입 (TRL 7~8)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90195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기초 연구 (TRL 2~3)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69480" y="1956816"/>
            <a:ext cx="1371600" cy="27432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956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22576"/>
            <a:ext cx="8595360" cy="384048"/>
          </a:xfrm>
          <a:prstGeom prst="rect">
            <a:avLst/>
          </a:prstGeom>
          <a:solidFill>
            <a:srgbClr val="282A36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225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MXene 방열 소재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23225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파일럿 생산 (TRL 5~6)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32257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미진입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69480" y="2377440"/>
            <a:ext cx="1371600" cy="27432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CRITICAL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743200"/>
            <a:ext cx="8595360" cy="384048"/>
          </a:xfrm>
          <a:prstGeom prst="rect">
            <a:avLst/>
          </a:prstGeom>
          <a:solidFill>
            <a:srgbClr val="44475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43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2.5D/3D IC 방열 패키징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27432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양산 적용 (TRL 8~9)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2743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연구 단계 (TRL 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69480" y="2798064"/>
            <a:ext cx="1371600" cy="27432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2798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HIGH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63824"/>
            <a:ext cx="8595360" cy="384048"/>
          </a:xfrm>
          <a:prstGeom prst="rect">
            <a:avLst/>
          </a:prstGeom>
          <a:solidFill>
            <a:srgbClr val="282A36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16382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AI 기반 열설계 최적화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03120" y="31638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선도 스타트업 등장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316382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미착수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9480" y="3218688"/>
            <a:ext cx="1371600" cy="27432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CRITICAL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584448"/>
            <a:ext cx="8595360" cy="384048"/>
          </a:xfrm>
          <a:prstGeom prst="rect">
            <a:avLst/>
          </a:prstGeom>
          <a:solidFill>
            <a:srgbClr val="44475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5844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그래핀 방열 복합소재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03120" y="3584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파일럿 양산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358444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연구소 수준 우수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69480" y="3639312"/>
            <a:ext cx="1371600" cy="27432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MED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005072"/>
            <a:ext cx="8595360" cy="384048"/>
          </a:xfrm>
          <a:prstGeom prst="rect">
            <a:avLst/>
          </a:prstGeom>
          <a:solidFill>
            <a:srgbClr val="282A36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0050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고방열 Ag 접착제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03120" y="40050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차량용 인증 완료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400507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시제품 제작 가능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69480" y="4059936"/>
            <a:ext cx="1371600" cy="27432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MED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425696"/>
            <a:ext cx="8595360" cy="384048"/>
          </a:xfrm>
          <a:prstGeom prst="rect">
            <a:avLst/>
          </a:prstGeom>
          <a:solidFill>
            <a:srgbClr val="44475A"/>
          </a:solidFill>
          <a:ln w="3810">
            <a:solidFill>
              <a:srgbClr val="6272A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42569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탄소계 방열판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03120" y="442569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</a:rPr>
              <a:t>양산 적용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0" y="4425696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F8F2"/>
                </a:solidFill>
              </a:rPr>
              <a:t>특허 다수, 경쟁력 有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69480" y="4480560"/>
            <a:ext cx="1371600" cy="27432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08  STRATEGY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</a:rPr>
              <a:t>전략적 제언 1 — 기술·연구 방향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206240" cy="1645920"/>
          </a:xfrm>
          <a:prstGeom prst="rect">
            <a:avLst/>
          </a:prstGeom>
          <a:solidFill>
            <a:srgbClr val="44475A"/>
          </a:solidFill>
          <a:ln w="19050">
            <a:solidFill>
              <a:srgbClr val="8BE9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4206240" cy="36576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01  차세대 소재 선점 (MXene·h-BN·액체금속)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8249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현재 CRITICAL GAP인 MXene 기반 방열 소재에 즉시 진입. 미국 Drexel·일본 NIMS와 공동연구 MOU 체결. 3년 내 TRL 5 달성 목표.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4206240" cy="1645920"/>
          </a:xfrm>
          <a:prstGeom prst="rect">
            <a:avLst/>
          </a:prstGeom>
          <a:solidFill>
            <a:srgbClr val="44475A"/>
          </a:solidFill>
          <a:ln w="19050">
            <a:solidFill>
              <a:srgbClr val="BD93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80160"/>
            <a:ext cx="4206240" cy="36576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02  AI 기반 열설계 자동화 플랫폼 구축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68249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앞선 데이터 기반 수중 접착 하이드로겔 연구(Nature 2025)처럼 방열 소재 설계에도 머신러닝 도입. 180개 조성 → ML 최적화 프레임 적용.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206240" cy="1645920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108960"/>
            <a:ext cx="4206240" cy="36576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03  SCI 논문·국제 특허 출원 KPI 설정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1129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연구원별 SCI-Q1 저널 연 2편 이상 목표 설정. 미국·유럽 특허 출원 의무화. 국제 방열 컨퍼런스(ITHERM·InterPACK) 정기 발표.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4206240" cy="1645920"/>
          </a:xfrm>
          <a:prstGeom prst="rect">
            <a:avLst/>
          </a:prstGeom>
          <a:solidFill>
            <a:srgbClr val="44475A"/>
          </a:solidFill>
          <a:ln w="19050">
            <a:solidFill>
              <a:srgbClr val="FFB86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108960"/>
            <a:ext cx="4206240" cy="36576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82A36"/>
                </a:solidFill>
              </a:rPr>
              <a:t>04  TRL 5→8 전환 Scale-up 인프라 투자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51129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</a:rPr>
              <a:t>Pilot 라인 구축 (연속 방열 시트 생산, 고진공 AMB 기판). 중소기업 공동 파일럿 플랫폼 운영으로 기술이전 가속화.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09  STRATEGY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</a:rPr>
              <a:t>전략적 제언 2 — 조직·생태계 혁신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3566160"/>
          </a:xfrm>
          <a:prstGeom prst="rect">
            <a:avLst/>
          </a:prstGeom>
          <a:solidFill>
            <a:srgbClr val="44475A"/>
          </a:solidFill>
          <a:ln w="19050">
            <a:solidFill>
              <a:srgbClr val="8BE9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🌐  글로벌 협력 네트워크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MIT Media Lab, ETH Zürich, NIMS Japan과 MOU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EU Horizon 방열 컨소시엄 참여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글로벌 기업 (Henkel, 3M) 공동 개발 협약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국제 연구자 교환 파견 프로그램 연 4명+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280160"/>
            <a:ext cx="2743200" cy="3566160"/>
          </a:xfrm>
          <a:prstGeom prst="rect">
            <a:avLst/>
          </a:prstGeom>
          <a:solidFill>
            <a:srgbClr val="44475A"/>
          </a:solidFill>
          <a:ln w="19050">
            <a:solidFill>
              <a:srgbClr val="BD93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280160"/>
            <a:ext cx="2743200" cy="50292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🏭  산업 생태계 허브화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828800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소재 Open Lab 운영 (중소기업 공동 활용)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인증·평가 센터 설립 (국내 유일 원스톱)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스타트업 엑셀러레이팅 프로그램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기술 표준화 위원회 주도 참여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280160"/>
            <a:ext cx="2743200" cy="3566160"/>
          </a:xfrm>
          <a:prstGeom prst="rect">
            <a:avLst/>
          </a:prstGeom>
          <a:solidFill>
            <a:srgbClr val="44475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1280160"/>
            <a:ext cx="2743200" cy="50292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280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📊  성과 지표 재설계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1828800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SCI-Q1 논문 수 KPI 도입 (현재 미설정)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해외 특허 출원 비율 30% 이상 목표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기술이전 계약 단가 현실화 (글로벌 기준)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TRL 단계 전환률 연간 모니터링 체계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1FA8C"/>
                </a:solidFill>
              </a:rPr>
              <a:t>▶  핵심 메시지: 'KETI만의 기술'에서 → '세계가 참조하는 플랫폼'으로 전환이 시급합니다.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2A36"/>
                </a:solidFill>
              </a:rPr>
              <a:t>10 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</a:rPr>
              <a:t>결론 및 3개년 실행 로드맵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063240" y="2331720"/>
            <a:ext cx="182880" cy="0"/>
          </a:xfrm>
          <a:prstGeom prst="line">
            <a:avLst/>
          </a:prstGeom>
          <a:noFill/>
          <a:ln w="19050">
            <a:solidFill>
              <a:srgbClr val="6272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41148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2025~26  · 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2743200" cy="2286000"/>
          </a:xfrm>
          <a:prstGeom prst="rect">
            <a:avLst/>
          </a:prstGeom>
          <a:solidFill>
            <a:srgbClr val="44475A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783080"/>
            <a:ext cx="25237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MXene·h-BN 기초연구 착수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AI 열설계 플랫폼 PoC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글로벌 MOU 3건 이상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SCI-Q1 게재 KPI 설정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331720"/>
            <a:ext cx="182880" cy="0"/>
          </a:xfrm>
          <a:prstGeom prst="line">
            <a:avLst/>
          </a:prstGeom>
          <a:noFill/>
          <a:ln w="19050">
            <a:solidFill>
              <a:srgbClr val="6272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80160"/>
            <a:ext cx="2743200" cy="41148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2026~27  ·  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719072"/>
            <a:ext cx="2743200" cy="2286000"/>
          </a:xfrm>
          <a:prstGeom prst="rect">
            <a:avLst/>
          </a:prstGeom>
          <a:solidFill>
            <a:srgbClr val="44475A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783080"/>
            <a:ext cx="25237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TRL 5→7 scale-up 파일럿 라인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해외 특허 10건+ 출원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인증 센터 개소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EU 컨소시엄 참여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280160"/>
            <a:ext cx="2743200" cy="41148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80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A36"/>
                </a:solidFill>
              </a:rPr>
              <a:t>2027~28  ·  LEADERSHIP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719072"/>
            <a:ext cx="2743200" cy="2286000"/>
          </a:xfrm>
          <a:prstGeom prst="rect">
            <a:avLst/>
          </a:prstGeom>
          <a:solidFill>
            <a:srgbClr val="44475A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783080"/>
            <a:ext cx="25237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세계 Top-5 방열 연구기관 벤치마킹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글로벌 기업 기술이전 계약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표준화 의장국 추진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F8F8F2"/>
                </a:solidFill>
              </a:rPr>
              <a:t>방열 스타트업 5개 배출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44475A"/>
          </a:solidFill>
          <a:ln w="19050">
            <a:solidFill>
              <a:srgbClr val="F1F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4160520"/>
            <a:ext cx="64008" cy="77724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8795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A8C"/>
                </a:solidFill>
              </a:rPr>
              <a:t>핵심 결론: </a:t>
            </a:r>
            <a:r>
              <a:rPr lang="en-US" sz="1100" dirty="0">
                <a:solidFill>
                  <a:srgbClr val="F8F8F2"/>
                </a:solidFill>
              </a:rPr>
              <a:t>KETI는 탄소계·복합소재 분야에서 탄탄한 기초를 갖추고 있으나, </a:t>
            </a:r>
            <a:r>
              <a:rPr lang="en-US" sz="1100" b="1" dirty="0">
                <a:solidFill>
                  <a:srgbClr val="8BE9FD"/>
                </a:solidFill>
              </a:rPr>
              <a:t>MXene·AI 열설계·글로벌 협력</a:t>
            </a:r>
            <a:r>
              <a:rPr lang="en-US" sz="1100" dirty="0">
                <a:solidFill>
                  <a:srgbClr val="F8F8F2"/>
                </a:solidFill>
              </a:rPr>
              <a:t> 등 세 가지 영역에서 신속한 Gap 해소가 필요합니다. 3년 내 집중 투자 시 아시아 최고 수준의 방열 연구기관 도약이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drBg"/>
          <p:cNvSpPr>
            <a:spLocks noGrp="1"/>
          </p:cNvSpPr>
          <p:nvPr/>
        </p:nvSpPr>
        <p:spPr>
          <a:xfrm>
            <a:off x="0" y="0"/>
            <a:ext cx="9144000" cy="736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Text"/>
          <p:cNvSpPr>
            <a:spLocks noGrp="1"/>
          </p:cNvSpPr>
          <p:nvPr/>
        </p:nvSpPr>
        <p:spPr>
          <a:xfrm>
            <a:off x="457200" y="0"/>
            <a:ext cx="8229600" cy="7362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BBDEFB"/>
                </a:solidFill>
              </a:rPr>
              <a:t>STRATEGY 01  · </a:t>
            </a:r>
            <a:r>
              <a:rPr lang="ko-KR" sz="2200" b="1" dirty="0">
                <a:solidFill>
                  <a:srgbClr val="FFFFFF"/>
                </a:solidFill>
              </a:rPr>
              <a:t>기술·연구 방향 전략</a:t>
            </a:r>
            <a:r>
              <a:rPr lang="ko-KR" sz="1600" dirty="0">
                <a:solidFill>
                  <a:srgbClr val="BBDEFB"/>
                </a:solidFill>
              </a:rPr>
              <a:t>  핵심 실행 방안 4가지</a:t>
            </a:r>
          </a:p>
        </p:txBody>
      </p:sp>
      <p:sp>
        <p:nvSpPr>
          <p:cNvPr id="10" name="CBg0"/>
          <p:cNvSpPr>
            <a:spLocks noGrp="1"/>
          </p:cNvSpPr>
          <p:nvPr/>
        </p:nvSpPr>
        <p:spPr>
          <a:xfrm>
            <a:off x="457200" y="812400"/>
            <a:ext cx="4057800" cy="1956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Hdr0"/>
          <p:cNvSpPr>
            <a:spLocks noGrp="1"/>
          </p:cNvSpPr>
          <p:nvPr/>
        </p:nvSpPr>
        <p:spPr>
          <a:xfrm>
            <a:off x="457200" y="812400"/>
            <a:ext cx="4057800" cy="547722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>
              <a:buNone/>
            </a:pPr>
            <a:r>
              <a:rPr lang="en-US" sz="900" dirty="0">
                <a:solidFill>
                  <a:srgbClr val="FFFFFF"/>
                </a:solidFill>
              </a:rPr>
              <a:t>01  </a:t>
            </a:r>
            <a:r>
              <a:rPr lang="ko-KR" sz="1400" b="1" dirty="0">
                <a:solidFill>
                  <a:srgbClr val="FFFFFF"/>
                </a:solidFill>
              </a:rPr>
              <a:t>차세대 소재 선점</a:t>
            </a:r>
          </a:p>
        </p:txBody>
      </p:sp>
      <p:sp>
        <p:nvSpPr>
          <p:cNvPr id="12" name="CTxt0"/>
          <p:cNvSpPr>
            <a:spLocks noGrp="1"/>
          </p:cNvSpPr>
          <p:nvPr/>
        </p:nvSpPr>
        <p:spPr>
          <a:xfrm>
            <a:off x="571200" y="1436322"/>
            <a:ext cx="3829200" cy="1256028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MXene 기반 방열 즉시 진입 (Critical Gap 해소)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Drexel·NIMS Japan 공동연구 MOU 체결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3년 내 TRL 5 달성 로드맵 수립</a:t>
            </a:r>
          </a:p>
        </p:txBody>
      </p:sp>
      <p:sp>
        <p:nvSpPr>
          <p:cNvPr id="13" name="CBg1"/>
          <p:cNvSpPr>
            <a:spLocks noGrp="1"/>
          </p:cNvSpPr>
          <p:nvPr/>
        </p:nvSpPr>
        <p:spPr>
          <a:xfrm>
            <a:off x="4629000" y="812400"/>
            <a:ext cx="4057800" cy="1956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Hdr1"/>
          <p:cNvSpPr>
            <a:spLocks noGrp="1"/>
          </p:cNvSpPr>
          <p:nvPr/>
        </p:nvSpPr>
        <p:spPr>
          <a:xfrm>
            <a:off x="4629000" y="812400"/>
            <a:ext cx="4057800" cy="547722"/>
          </a:xfrm>
          <a:prstGeom prst="roundRect">
            <a:avLst>
              <a:gd name="adj" fmla="val 10000"/>
            </a:avLst>
          </a:prstGeom>
          <a:solidFill>
            <a:srgbClr val="0277BD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>
              <a:buNone/>
            </a:pPr>
            <a:r>
              <a:rPr lang="en-US" sz="900" dirty="0">
                <a:solidFill>
                  <a:srgbClr val="FFFFFF"/>
                </a:solidFill>
              </a:rPr>
              <a:t>02  </a:t>
            </a:r>
            <a:r>
              <a:rPr lang="ko-KR" sz="1400" b="1" dirty="0">
                <a:solidFill>
                  <a:srgbClr val="FFFFFF"/>
                </a:solidFill>
              </a:rPr>
              <a:t>AI 열설계 자동화 플랫폼</a:t>
            </a:r>
          </a:p>
        </p:txBody>
      </p:sp>
      <p:sp>
        <p:nvSpPr>
          <p:cNvPr id="15" name="CTxt1"/>
          <p:cNvSpPr>
            <a:spLocks noGrp="1"/>
          </p:cNvSpPr>
          <p:nvPr/>
        </p:nvSpPr>
        <p:spPr>
          <a:xfrm>
            <a:off x="4743000" y="1436322"/>
            <a:ext cx="3829200" cy="1256028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소재 설계에 머신러닝(ML) 도입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180개 조성 → ML 최적화 프레임 개발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데이터 기반 소재 개발 사이클 단축</a:t>
            </a:r>
          </a:p>
        </p:txBody>
      </p:sp>
      <p:sp>
        <p:nvSpPr>
          <p:cNvPr id="16" name="CBg2"/>
          <p:cNvSpPr>
            <a:spLocks noGrp="1"/>
          </p:cNvSpPr>
          <p:nvPr/>
        </p:nvSpPr>
        <p:spPr>
          <a:xfrm>
            <a:off x="457200" y="2882550"/>
            <a:ext cx="4057800" cy="1956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Hdr2"/>
          <p:cNvSpPr>
            <a:spLocks noGrp="1"/>
          </p:cNvSpPr>
          <p:nvPr/>
        </p:nvSpPr>
        <p:spPr>
          <a:xfrm>
            <a:off x="457200" y="2882550"/>
            <a:ext cx="4057800" cy="547722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>
              <a:buNone/>
            </a:pPr>
            <a:r>
              <a:rPr lang="en-US" sz="900" dirty="0">
                <a:solidFill>
                  <a:srgbClr val="FFFFFF"/>
                </a:solidFill>
              </a:rPr>
              <a:t>03  </a:t>
            </a:r>
            <a:r>
              <a:rPr lang="ko-KR" sz="1400" b="1" dirty="0">
                <a:solidFill>
                  <a:srgbClr val="FFFFFF"/>
                </a:solidFill>
              </a:rPr>
              <a:t>SCI 논문·국제 특허 KPI</a:t>
            </a:r>
          </a:p>
        </p:txBody>
      </p:sp>
      <p:sp>
        <p:nvSpPr>
          <p:cNvPr id="18" name="CTxt2"/>
          <p:cNvSpPr>
            <a:spLocks noGrp="1"/>
          </p:cNvSpPr>
          <p:nvPr/>
        </p:nvSpPr>
        <p:spPr>
          <a:xfrm>
            <a:off x="571200" y="3506472"/>
            <a:ext cx="3829200" cy="1256028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연구원별 SCI-Q1 저널 연 2편 이상 목표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미국·유럽 특허 출원 의무화 제도화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ITHERM·InterPACK 정기 발표 추진</a:t>
            </a:r>
          </a:p>
        </p:txBody>
      </p:sp>
      <p:sp>
        <p:nvSpPr>
          <p:cNvPr id="19" name="CBg3"/>
          <p:cNvSpPr>
            <a:spLocks noGrp="1"/>
          </p:cNvSpPr>
          <p:nvPr/>
        </p:nvSpPr>
        <p:spPr>
          <a:xfrm>
            <a:off x="4629000" y="2882550"/>
            <a:ext cx="4057800" cy="1956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CHdr3"/>
          <p:cNvSpPr>
            <a:spLocks noGrp="1"/>
          </p:cNvSpPr>
          <p:nvPr/>
        </p:nvSpPr>
        <p:spPr>
          <a:xfrm>
            <a:off x="4629000" y="2882550"/>
            <a:ext cx="4057800" cy="547722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>
              <a:buNone/>
            </a:pPr>
            <a:r>
              <a:rPr lang="en-US" sz="900" dirty="0">
                <a:solidFill>
                  <a:srgbClr val="FFFFFF"/>
                </a:solidFill>
              </a:rPr>
              <a:t>04  </a:t>
            </a:r>
            <a:r>
              <a:rPr lang="ko-KR" sz="1400" b="1" dirty="0">
                <a:solidFill>
                  <a:srgbClr val="FFFFFF"/>
                </a:solidFill>
              </a:rPr>
              <a:t>TRL Scale-up 인프라 투자</a:t>
            </a:r>
          </a:p>
        </p:txBody>
      </p:sp>
      <p:sp>
        <p:nvSpPr>
          <p:cNvPr id="21" name="CTxt3"/>
          <p:cNvSpPr>
            <a:spLocks noGrp="1"/>
          </p:cNvSpPr>
          <p:nvPr/>
        </p:nvSpPr>
        <p:spPr>
          <a:xfrm>
            <a:off x="4743000" y="3506472"/>
            <a:ext cx="3829200" cy="1256028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Pilot 라인 구축 (방열 시트·AMB 기판)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중소기업 공동 파일럿 플랫폼 운영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기술이전 가속화 체계 확립</a:t>
            </a:r>
          </a:p>
        </p:txBody>
      </p:sp>
      <p:sp>
        <p:nvSpPr>
          <p:cNvPr id="60" name="Ftr"/>
          <p:cNvSpPr>
            <a:spLocks noGrp="1"/>
          </p:cNvSpPr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="ctr">
            <a:noAutofit/>
          </a:bodyPr>
          <a:lstStyle/>
          <a:p>
            <a:pPr algn="r">
              <a:buNone/>
            </a:pPr>
            <a:r>
              <a:rPr lang="ko-KR" sz="900" dirty="0">
                <a:solidFill>
                  <a:srgbClr val="FFFFFF"/>
                </a:solidFill>
              </a:rPr>
              <a:t>KETI 방열 기술 분석  ·  경영진 보고  ·  1 / 3</a:t>
            </a:r>
          </a:p>
        </p:txBody>
      </p:sp>
    </p:spTree>
    <p:extLst>
      <p:ext uri="{BB962C8B-B14F-4D97-AF65-F5344CB8AC3E}">
        <p14:creationId xmlns:p14="http://schemas.microsoft.com/office/powerpoint/2010/main" val="1038491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drBg"/>
          <p:cNvSpPr>
            <a:spLocks noGrp="1"/>
          </p:cNvSpPr>
          <p:nvPr/>
        </p:nvSpPr>
        <p:spPr>
          <a:xfrm>
            <a:off x="0" y="0"/>
            <a:ext cx="9144000" cy="73620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Text"/>
          <p:cNvSpPr>
            <a:spLocks noGrp="1"/>
          </p:cNvSpPr>
          <p:nvPr/>
        </p:nvSpPr>
        <p:spPr>
          <a:xfrm>
            <a:off x="457200" y="0"/>
            <a:ext cx="8229600" cy="7362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B3E5FC"/>
                </a:solidFill>
              </a:rPr>
              <a:t>STRATEGY 02  · </a:t>
            </a:r>
            <a:r>
              <a:rPr lang="ko-KR" sz="2200" b="1" dirty="0">
                <a:solidFill>
                  <a:srgbClr val="FFFFFF"/>
                </a:solidFill>
              </a:rPr>
              <a:t>조직·생태계 혁신 전략</a:t>
            </a:r>
            <a:r>
              <a:rPr lang="ko-KR" sz="1600" dirty="0">
                <a:solidFill>
                  <a:srgbClr val="B3E5FC"/>
                </a:solidFill>
              </a:rPr>
              <a:t>  3대 혁신 축</a:t>
            </a:r>
          </a:p>
        </p:txBody>
      </p:sp>
      <p:sp>
        <p:nvSpPr>
          <p:cNvPr id="10" name="CBg0"/>
          <p:cNvSpPr>
            <a:spLocks noGrp="1"/>
          </p:cNvSpPr>
          <p:nvPr/>
        </p:nvSpPr>
        <p:spPr>
          <a:xfrm>
            <a:off x="457200" y="812400"/>
            <a:ext cx="2641600" cy="402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Hdr0"/>
          <p:cNvSpPr>
            <a:spLocks noGrp="1"/>
          </p:cNvSpPr>
          <p:nvPr/>
        </p:nvSpPr>
        <p:spPr>
          <a:xfrm>
            <a:off x="457200" y="812400"/>
            <a:ext cx="2641600" cy="885786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글로벌 협력 네트워크</a:t>
            </a:r>
          </a:p>
        </p:txBody>
      </p:sp>
      <p:sp>
        <p:nvSpPr>
          <p:cNvPr id="12" name="CTxt0"/>
          <p:cNvSpPr>
            <a:spLocks noGrp="1"/>
          </p:cNvSpPr>
          <p:nvPr/>
        </p:nvSpPr>
        <p:spPr>
          <a:xfrm>
            <a:off x="571200" y="1774386"/>
            <a:ext cx="2413000" cy="2988114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MIT Media Lab, ETH Zürich, NIMS Japan MOU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EU Horizon 방열 컨소시엄 참여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Henkel·3M 공동 개발 협약 체결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국제 연구자 교환 파견 연 4명+</a:t>
            </a:r>
          </a:p>
        </p:txBody>
      </p:sp>
      <p:sp>
        <p:nvSpPr>
          <p:cNvPr id="13" name="CBg1"/>
          <p:cNvSpPr>
            <a:spLocks noGrp="1"/>
          </p:cNvSpPr>
          <p:nvPr/>
        </p:nvSpPr>
        <p:spPr>
          <a:xfrm>
            <a:off x="3251200" y="812400"/>
            <a:ext cx="2641600" cy="402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Hdr1"/>
          <p:cNvSpPr>
            <a:spLocks noGrp="1"/>
          </p:cNvSpPr>
          <p:nvPr/>
        </p:nvSpPr>
        <p:spPr>
          <a:xfrm>
            <a:off x="3251200" y="812400"/>
            <a:ext cx="2641600" cy="885786"/>
          </a:xfrm>
          <a:prstGeom prst="roundRect">
            <a:avLst>
              <a:gd name="adj" fmla="val 10000"/>
            </a:avLst>
          </a:prstGeom>
          <a:solidFill>
            <a:srgbClr val="0277BD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산업 생태계 허브화</a:t>
            </a:r>
          </a:p>
        </p:txBody>
      </p:sp>
      <p:sp>
        <p:nvSpPr>
          <p:cNvPr id="15" name="CTxt1"/>
          <p:cNvSpPr>
            <a:spLocks noGrp="1"/>
          </p:cNvSpPr>
          <p:nvPr/>
        </p:nvSpPr>
        <p:spPr>
          <a:xfrm>
            <a:off x="3365200" y="1774386"/>
            <a:ext cx="2413000" cy="2988114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소재 Open Lab (중소기업 공동 활용)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인증·평가 센터 설립 (원스톱)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스타트업 엑셀러레이팅 운영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기술 표준화 위원회 주도 참여</a:t>
            </a:r>
          </a:p>
        </p:txBody>
      </p:sp>
      <p:sp>
        <p:nvSpPr>
          <p:cNvPr id="16" name="CBg2"/>
          <p:cNvSpPr>
            <a:spLocks noGrp="1"/>
          </p:cNvSpPr>
          <p:nvPr/>
        </p:nvSpPr>
        <p:spPr>
          <a:xfrm>
            <a:off x="6045200" y="812400"/>
            <a:ext cx="2641600" cy="4026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Hdr2"/>
          <p:cNvSpPr>
            <a:spLocks noGrp="1"/>
          </p:cNvSpPr>
          <p:nvPr/>
        </p:nvSpPr>
        <p:spPr>
          <a:xfrm>
            <a:off x="6045200" y="812400"/>
            <a:ext cx="2641600" cy="885786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</p:spPr>
        <p:txBody>
          <a:bodyPr lIns="180000" anchor="ctr">
            <a:noAutofit/>
          </a:bodyPr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성과 지표 재설계</a:t>
            </a:r>
          </a:p>
        </p:txBody>
      </p:sp>
      <p:sp>
        <p:nvSpPr>
          <p:cNvPr id="18" name="CTxt2"/>
          <p:cNvSpPr>
            <a:spLocks noGrp="1"/>
          </p:cNvSpPr>
          <p:nvPr/>
        </p:nvSpPr>
        <p:spPr>
          <a:xfrm>
            <a:off x="6159200" y="1774386"/>
            <a:ext cx="2413000" cy="2988114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SCI-Q1 논문 KPI 신규 도입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해외 특허 출원 비율 30% 이상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기술이전 단가 글로벌 기준 적용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TRL 전환률 연간 모니터링 체계</a:t>
            </a:r>
          </a:p>
        </p:txBody>
      </p:sp>
      <p:sp>
        <p:nvSpPr>
          <p:cNvPr id="40" name="MsgBar"/>
          <p:cNvSpPr>
            <a:spLocks noGrp="1"/>
          </p:cNvSpPr>
          <p:nvPr/>
        </p:nvSpPr>
        <p:spPr>
          <a:xfrm>
            <a:off x="457200" y="3905250"/>
            <a:ext cx="8280400" cy="628650"/>
          </a:xfrm>
          <a:prstGeom prst="roundRect">
            <a:avLst>
              <a:gd name="adj" fmla="val 8000"/>
            </a:avLst>
          </a:prstGeom>
          <a:solidFill>
            <a:srgbClr val="E1F5FE"/>
          </a:solidFill>
          <a:ln w="18000">
            <a:solidFill>
              <a:srgbClr val="0277BD"/>
            </a:solidFill>
          </a:ln>
        </p:spPr>
        <p:txBody>
          <a:bodyPr lIns="270000" rIns="270000" anchor="ctr">
            <a:noAutofit/>
          </a:bodyPr>
          <a:lstStyle/>
          <a:p>
            <a:pPr>
              <a:buNone/>
            </a:pPr>
            <a:r>
              <a:rPr lang="ko-KR" b="1" dirty="0">
                <a:solidFill>
                  <a:srgbClr val="0277BD"/>
                </a:solidFill>
              </a:rPr>
              <a:t>핵심 메시지  </a:t>
            </a:r>
            <a:r>
              <a:rPr lang="ko-KR" dirty="0">
                <a:solidFill>
                  <a:srgbClr val="37474F"/>
                </a:solidFill>
              </a:rPr>
              <a:t>'KETI만의 기술'에서 '세계가 참조하는 플랫폼'으로 전환이 시급합니다.</a:t>
            </a:r>
          </a:p>
        </p:txBody>
      </p:sp>
      <p:sp>
        <p:nvSpPr>
          <p:cNvPr id="60" name="Ftr"/>
          <p:cNvSpPr>
            <a:spLocks noGrp="1"/>
          </p:cNvSpPr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txBody>
          <a:bodyPr anchor="ctr">
            <a:noAutofit/>
          </a:bodyPr>
          <a:lstStyle/>
          <a:p>
            <a:pPr algn="r">
              <a:buNone/>
            </a:pPr>
            <a:r>
              <a:rPr lang="ko-KR" sz="900" dirty="0">
                <a:solidFill>
                  <a:srgbClr val="FFFFFF"/>
                </a:solidFill>
              </a:rPr>
              <a:t>KETI 방열 기술 분석  ·  경영진 보고  ·  2 / 3</a:t>
            </a:r>
          </a:p>
        </p:txBody>
      </p:sp>
    </p:spTree>
    <p:extLst>
      <p:ext uri="{BB962C8B-B14F-4D97-AF65-F5344CB8AC3E}">
        <p14:creationId xmlns:p14="http://schemas.microsoft.com/office/powerpoint/2010/main" val="2696646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drBg"/>
          <p:cNvSpPr>
            <a:spLocks noGrp="1"/>
          </p:cNvSpPr>
          <p:nvPr/>
        </p:nvSpPr>
        <p:spPr>
          <a:xfrm>
            <a:off x="0" y="0"/>
            <a:ext cx="9144000" cy="7362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Text"/>
          <p:cNvSpPr>
            <a:spLocks noGrp="1"/>
          </p:cNvSpPr>
          <p:nvPr/>
        </p:nvSpPr>
        <p:spPr>
          <a:xfrm>
            <a:off x="457200" y="0"/>
            <a:ext cx="8229600" cy="7362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en-US" sz="1000" dirty="0">
                <a:solidFill>
                  <a:srgbClr val="B2DFDB"/>
                </a:solidFill>
              </a:rPr>
              <a:t>3개년 실행 로드맵  · </a:t>
            </a:r>
            <a:r>
              <a:rPr lang="ko-KR" sz="2200" b="1" dirty="0">
                <a:solidFill>
                  <a:srgbClr val="FFFFFF"/>
                </a:solidFill>
              </a:rPr>
              <a:t>아시아 최고 방열 연구기관 도약</a:t>
            </a:r>
          </a:p>
        </p:txBody>
      </p:sp>
      <p:sp>
        <p:nvSpPr>
          <p:cNvPr id="10" name="PBg0"/>
          <p:cNvSpPr>
            <a:spLocks noGrp="1"/>
          </p:cNvSpPr>
          <p:nvPr/>
        </p:nvSpPr>
        <p:spPr>
          <a:xfrm>
            <a:off x="457200" y="812400"/>
            <a:ext cx="2641600" cy="2939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PHdr0"/>
          <p:cNvSpPr>
            <a:spLocks noGrp="1"/>
          </p:cNvSpPr>
          <p:nvPr/>
        </p:nvSpPr>
        <p:spPr>
          <a:xfrm>
            <a:off x="457200" y="812400"/>
            <a:ext cx="2641600" cy="793583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</a:rPr>
              <a:t>FOUNDATION</a:t>
            </a:r>
          </a:p>
          <a:p>
            <a:pPr algn="ctr">
              <a:buNone/>
            </a:pPr>
            <a:r>
              <a:rPr lang="ko-KR" sz="1000" dirty="0">
                <a:solidFill>
                  <a:srgbClr val="FFFFFF"/>
                </a:solidFill>
              </a:rPr>
              <a:t>PHASE 1  ·  202</a:t>
            </a:r>
            <a:r>
              <a:rPr lang="en-US" altLang="ko-KR" sz="1000" dirty="0">
                <a:solidFill>
                  <a:srgbClr val="FFFFFF"/>
                </a:solidFill>
              </a:rPr>
              <a:t>6</a:t>
            </a:r>
            <a:r>
              <a:rPr lang="ko-KR" sz="1000" dirty="0">
                <a:solidFill>
                  <a:srgbClr val="FFFFFF"/>
                </a:solidFill>
              </a:rPr>
              <a:t> ~ 202</a:t>
            </a:r>
            <a:r>
              <a:rPr lang="en-US" altLang="ko-KR" sz="1000" dirty="0">
                <a:solidFill>
                  <a:srgbClr val="FFFFFF"/>
                </a:solidFill>
              </a:rPr>
              <a:t>7</a:t>
            </a:r>
            <a:endParaRPr lang="ko-KR" sz="1000" dirty="0">
              <a:solidFill>
                <a:srgbClr val="FFFFFF"/>
              </a:solidFill>
            </a:endParaRPr>
          </a:p>
        </p:txBody>
      </p:sp>
      <p:sp>
        <p:nvSpPr>
          <p:cNvPr id="20" name="Arr0"/>
          <p:cNvSpPr>
            <a:spLocks noGrp="1"/>
          </p:cNvSpPr>
          <p:nvPr/>
        </p:nvSpPr>
        <p:spPr>
          <a:xfrm>
            <a:off x="3022600" y="2180399"/>
            <a:ext cx="3048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65C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PBul0"/>
          <p:cNvSpPr>
            <a:spLocks noGrp="1"/>
          </p:cNvSpPr>
          <p:nvPr/>
        </p:nvSpPr>
        <p:spPr>
          <a:xfrm>
            <a:off x="571200" y="1682183"/>
            <a:ext cx="2413000" cy="1993216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MXene·h-BN 기초연구 착수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AI 열설계 플랫폼 PoC 개발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글로벌 MOU 3건 이상 체결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SCI-Q1 KPI 최초 설정</a:t>
            </a:r>
          </a:p>
        </p:txBody>
      </p:sp>
      <p:sp>
        <p:nvSpPr>
          <p:cNvPr id="13" name="PBg1"/>
          <p:cNvSpPr>
            <a:spLocks noGrp="1"/>
          </p:cNvSpPr>
          <p:nvPr/>
        </p:nvSpPr>
        <p:spPr>
          <a:xfrm>
            <a:off x="3251200" y="812400"/>
            <a:ext cx="2641600" cy="2939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PHdr1"/>
          <p:cNvSpPr>
            <a:spLocks noGrp="1"/>
          </p:cNvSpPr>
          <p:nvPr/>
        </p:nvSpPr>
        <p:spPr>
          <a:xfrm>
            <a:off x="3251200" y="812400"/>
            <a:ext cx="2641600" cy="793583"/>
          </a:xfrm>
          <a:prstGeom prst="roundRect">
            <a:avLst>
              <a:gd name="adj" fmla="val 10000"/>
            </a:avLst>
          </a:prstGeom>
          <a:solidFill>
            <a:srgbClr val="0277BD"/>
          </a:solidFill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</a:rPr>
              <a:t>GROWTH</a:t>
            </a:r>
          </a:p>
          <a:p>
            <a:pPr algn="ctr">
              <a:buNone/>
            </a:pPr>
            <a:r>
              <a:rPr lang="ko-KR" sz="1000" dirty="0">
                <a:solidFill>
                  <a:srgbClr val="FFFFFF"/>
                </a:solidFill>
              </a:rPr>
              <a:t>PHASE 2  ·  202</a:t>
            </a:r>
            <a:r>
              <a:rPr lang="en-US" altLang="ko-KR" sz="1000" dirty="0">
                <a:solidFill>
                  <a:srgbClr val="FFFFFF"/>
                </a:solidFill>
              </a:rPr>
              <a:t>7</a:t>
            </a:r>
            <a:r>
              <a:rPr lang="ko-KR" sz="1000" dirty="0">
                <a:solidFill>
                  <a:srgbClr val="FFFFFF"/>
                </a:solidFill>
              </a:rPr>
              <a:t> ~ 202</a:t>
            </a:r>
            <a:r>
              <a:rPr lang="en-US" altLang="ko-KR" sz="1000" dirty="0">
                <a:solidFill>
                  <a:srgbClr val="FFFFFF"/>
                </a:solidFill>
              </a:rPr>
              <a:t>8</a:t>
            </a:r>
            <a:endParaRPr lang="ko-KR" sz="1000" dirty="0">
              <a:solidFill>
                <a:srgbClr val="FFFFFF"/>
              </a:solidFill>
            </a:endParaRPr>
          </a:p>
        </p:txBody>
      </p:sp>
      <p:sp>
        <p:nvSpPr>
          <p:cNvPr id="23" name="Arr1"/>
          <p:cNvSpPr>
            <a:spLocks noGrp="1"/>
          </p:cNvSpPr>
          <p:nvPr/>
        </p:nvSpPr>
        <p:spPr>
          <a:xfrm>
            <a:off x="5816600" y="2180399"/>
            <a:ext cx="3048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77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PBul1"/>
          <p:cNvSpPr>
            <a:spLocks noGrp="1"/>
          </p:cNvSpPr>
          <p:nvPr/>
        </p:nvSpPr>
        <p:spPr>
          <a:xfrm>
            <a:off x="3365200" y="1682183"/>
            <a:ext cx="2413000" cy="1993216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TRL 5→7 scale-up 파일럿 라인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해외 특허 10건+ 출원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인증 센터 개소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EU Horizon 컨소시엄 참여</a:t>
            </a:r>
          </a:p>
        </p:txBody>
      </p:sp>
      <p:sp>
        <p:nvSpPr>
          <p:cNvPr id="16" name="PBg2"/>
          <p:cNvSpPr>
            <a:spLocks noGrp="1"/>
          </p:cNvSpPr>
          <p:nvPr/>
        </p:nvSpPr>
        <p:spPr>
          <a:xfrm>
            <a:off x="6045200" y="812400"/>
            <a:ext cx="2641600" cy="2939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8000">
            <a:solidFill>
              <a:srgbClr val="CFD8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PHdr2"/>
          <p:cNvSpPr>
            <a:spLocks noGrp="1"/>
          </p:cNvSpPr>
          <p:nvPr/>
        </p:nvSpPr>
        <p:spPr>
          <a:xfrm>
            <a:off x="6045200" y="812400"/>
            <a:ext cx="2641600" cy="793583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</a:rPr>
              <a:t>LEADERSHIP</a:t>
            </a:r>
          </a:p>
          <a:p>
            <a:pPr algn="ctr">
              <a:buNone/>
            </a:pPr>
            <a:r>
              <a:rPr lang="ko-KR" sz="1000" dirty="0">
                <a:solidFill>
                  <a:srgbClr val="FFFFFF"/>
                </a:solidFill>
              </a:rPr>
              <a:t>PHASE 3  ·  202</a:t>
            </a:r>
            <a:r>
              <a:rPr lang="en-US" altLang="ko-KR" sz="1000" dirty="0">
                <a:solidFill>
                  <a:srgbClr val="FFFFFF"/>
                </a:solidFill>
              </a:rPr>
              <a:t>8</a:t>
            </a:r>
            <a:r>
              <a:rPr lang="ko-KR" sz="1000" dirty="0">
                <a:solidFill>
                  <a:srgbClr val="FFFFFF"/>
                </a:solidFill>
              </a:rPr>
              <a:t> ~ 202</a:t>
            </a:r>
            <a:r>
              <a:rPr lang="en-US" altLang="ko-KR" sz="1000">
                <a:solidFill>
                  <a:srgbClr val="FFFFFF"/>
                </a:solidFill>
              </a:rPr>
              <a:t>9</a:t>
            </a:r>
            <a:endParaRPr lang="ko-KR" sz="1000" dirty="0">
              <a:solidFill>
                <a:srgbClr val="FFFFFF"/>
              </a:solidFill>
            </a:endParaRPr>
          </a:p>
        </p:txBody>
      </p:sp>
      <p:sp>
        <p:nvSpPr>
          <p:cNvPr id="18" name="PBul2"/>
          <p:cNvSpPr>
            <a:spLocks noGrp="1"/>
          </p:cNvSpPr>
          <p:nvPr/>
        </p:nvSpPr>
        <p:spPr>
          <a:xfrm>
            <a:off x="6159200" y="1682183"/>
            <a:ext cx="2413000" cy="1993216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세계 Top-5 연구기관 목표 달성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글로벌 기술이전 계약 체결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표준화 국제 의장국 추진</a:t>
            </a:r>
          </a:p>
          <a:p>
            <a:pPr marL="200000" indent="-200000">
              <a:spcBef>
                <a:spcPts val="400"/>
              </a:spcBef>
              <a:buChar char="•"/>
            </a:pPr>
            <a:r>
              <a:rPr lang="ko-KR" sz="1200" dirty="0">
                <a:solidFill>
                  <a:srgbClr val="37474F"/>
                </a:solidFill>
              </a:rPr>
              <a:t>방열 스타트업 5개 배출</a:t>
            </a:r>
          </a:p>
        </p:txBody>
      </p:sp>
      <p:sp>
        <p:nvSpPr>
          <p:cNvPr id="50" name="Conc"/>
          <p:cNvSpPr>
            <a:spLocks noGrp="1"/>
          </p:cNvSpPr>
          <p:nvPr/>
        </p:nvSpPr>
        <p:spPr>
          <a:xfrm>
            <a:off x="457200" y="3865599"/>
            <a:ext cx="8229600" cy="973101"/>
          </a:xfrm>
          <a:prstGeom prst="roundRect">
            <a:avLst>
              <a:gd name="adj" fmla="val 8000"/>
            </a:avLst>
          </a:prstGeom>
          <a:solidFill>
            <a:srgbClr val="00695C"/>
          </a:solidFill>
          <a:ln>
            <a:noFill/>
          </a:ln>
        </p:spPr>
        <p:txBody>
          <a:bodyPr lIns="270000" rIns="270000" anchor="ctr">
            <a:noAutofit/>
          </a:bodyPr>
          <a:lstStyle/>
          <a:p>
            <a:pPr>
              <a:buNone/>
            </a:pPr>
            <a:r>
              <a:rPr lang="ko-KR" sz="1200" b="1" dirty="0">
                <a:solidFill>
                  <a:srgbClr val="FFFFFF"/>
                </a:solidFill>
              </a:rPr>
              <a:t>핵심 결론  </a:t>
            </a:r>
            <a:r>
              <a:rPr lang="ko-KR" sz="1100" dirty="0">
                <a:solidFill>
                  <a:srgbClr val="B2DFDB"/>
                </a:solidFill>
              </a:rPr>
              <a:t>KETI의 탄탄한 기초 역량 기반 → MXene·AI 열설계·글로벌 협력 3대 Gap을 집중 해소하면, 3년 내 아시아 최고 수준 방열 연구기관 도약이 가능합니다.</a:t>
            </a:r>
          </a:p>
        </p:txBody>
      </p:sp>
      <p:sp>
        <p:nvSpPr>
          <p:cNvPr id="60" name="Ftr"/>
          <p:cNvSpPr>
            <a:spLocks noGrp="1"/>
          </p:cNvSpPr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txBody>
          <a:bodyPr anchor="ctr">
            <a:noAutofit/>
          </a:bodyPr>
          <a:lstStyle/>
          <a:p>
            <a:pPr algn="r">
              <a:buNone/>
            </a:pPr>
            <a:r>
              <a:rPr lang="ko-KR" sz="900" dirty="0">
                <a:solidFill>
                  <a:srgbClr val="FFFFFF"/>
                </a:solidFill>
              </a:rPr>
              <a:t>KETI 방열 기술 분석  ·  경영진 보고  ·  3 / 3</a:t>
            </a:r>
          </a:p>
        </p:txBody>
      </p:sp>
    </p:spTree>
    <p:extLst>
      <p:ext uri="{BB962C8B-B14F-4D97-AF65-F5344CB8AC3E}">
        <p14:creationId xmlns:p14="http://schemas.microsoft.com/office/powerpoint/2010/main" val="83074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76133862048]">
  <a:themeElements>
    <a:clrScheme name="Office">
      <a:dk1>
        <a:srgbClr val="212121"/>
      </a:dk1>
      <a:lt1>
        <a:srgbClr val="FAFAFA"/>
      </a:lt1>
      <a:dk2>
        <a:srgbClr val="37474F"/>
      </a:dk2>
      <a:lt2>
        <a:srgbClr val="ECEFF1"/>
      </a:lt2>
      <a:accent1>
        <a:srgbClr val="1565C0"/>
      </a:accent1>
      <a:accent2>
        <a:srgbClr val="0288D1"/>
      </a:accent2>
      <a:accent3>
        <a:srgbClr val="00838F"/>
      </a:accent3>
      <a:accent4>
        <a:srgbClr val="2E7D32"/>
      </a:accent4>
      <a:accent5>
        <a:srgbClr val="EF6C00"/>
      </a:accent5>
      <a:accent6>
        <a:srgbClr val="6A1B9A"/>
      </a:accent6>
      <a:hlink>
        <a:srgbClr val="0563C1"/>
      </a:hlink>
      <a:folHlink>
        <a:srgbClr val="954F72"/>
      </a:folHlink>
    </a:clrScheme>
    <a:fontScheme name="Office">
      <a:majorFont>
        <a:latin typeface="Noto Sans K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9BFAF4E-EDCB-43C9-8D5D-5F7D8639BB05}">
  <we:reference id="wa200010001" version="1.0.0.0" store="ko-KR" storeType="OMEX"/>
  <we:alternateReferences>
    <we:reference id="wa200010001" version="1.0.0.0" store="WA200010001" storeType="OMEX"/>
  </we:alternateReferences>
  <we:properties>
    <we:property name="claude.fileId" value="&quot;5a90cee5-f002-4941-8892-da5de424bf3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1495</Words>
  <Application>Microsoft Office PowerPoint</Application>
  <PresentationFormat>화면 슬라이드 쇼(16:9)</PresentationFormat>
  <Paragraphs>255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Malgun Gothic</vt:lpstr>
      <vt:lpstr>Arial</vt:lpstr>
      <vt:lpstr>Office Theme</vt:lpstr>
      <vt:lpstr>Office Theme [1776133862048]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KETI 방열 기술 전략 분석 및 세계화 제언</dc:title>
  <dc:subject>PptxGenJS Presentation</dc:subject>
  <dc:creator>PptxGenJS</dc:creator>
  <cp:lastModifiedBy>Bog Kim</cp:lastModifiedBy>
  <cp:revision>3</cp:revision>
  <dcterms:created xsi:type="dcterms:W3CDTF">2026-04-14T01:52:50Z</dcterms:created>
  <dcterms:modified xsi:type="dcterms:W3CDTF">2026-04-14T11:33:13Z</dcterms:modified>
</cp:coreProperties>
</file>