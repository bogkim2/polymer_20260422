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318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45" r:id="rId29"/>
    <p:sldId id="284" r:id="rId30"/>
    <p:sldId id="346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15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1600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부산대학교 물리학과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1920240" cy="274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19933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케이에스모듈테크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" y="23042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대표이사  김복기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615184"/>
            <a:ext cx="1920240" cy="27432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26883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3840480"/>
            <a:ext cx="164592" cy="164592"/>
          </a:xfrm>
          <a:prstGeom prst="ellipse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840480"/>
            <a:ext cx="164592" cy="164592"/>
          </a:xfrm>
          <a:prstGeom prst="ellipse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43000" y="3840480"/>
            <a:ext cx="164592" cy="16459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63040" y="3840480"/>
            <a:ext cx="164592" cy="164592"/>
          </a:xfrm>
          <a:prstGeom prst="ellipse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83080" y="3840480"/>
            <a:ext cx="164592" cy="16459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03120" y="3840480"/>
            <a:ext cx="164592" cy="164592"/>
          </a:xfrm>
          <a:prstGeom prst="ellipse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08960" y="38404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5600" dirty="0"/>
          </a:p>
        </p:txBody>
      </p:sp>
      <p:sp>
        <p:nvSpPr>
          <p:cNvPr id="18" name="Text 15"/>
          <p:cNvSpPr/>
          <p:nvPr/>
        </p:nvSpPr>
        <p:spPr>
          <a:xfrm>
            <a:off x="3108960" y="10515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기초활용 &amp; 연구지원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108960" y="160934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실무자를 위한 AI 첫걸음 — 60분 완성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108960" y="2029968"/>
            <a:ext cx="1810512" cy="329184"/>
          </a:xfrm>
          <a:prstGeom prst="rect">
            <a:avLst/>
          </a:prstGeom>
          <a:solidFill>
            <a:srgbClr val="8BE9FD">
              <a:alpha val="18000"/>
            </a:srgbClr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08960" y="20299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Claude 기초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47488" y="2029968"/>
            <a:ext cx="1810512" cy="329184"/>
          </a:xfrm>
          <a:prstGeom prst="rect">
            <a:avLst/>
          </a:prstGeom>
          <a:solidFill>
            <a:srgbClr val="50FA7B">
              <a:alpha val="18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47488" y="20299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연구 업무 활용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986016" y="2029968"/>
            <a:ext cx="1810512" cy="329184"/>
          </a:xfrm>
          <a:prstGeom prst="rect">
            <a:avLst/>
          </a:prstGeom>
          <a:solidFill>
            <a:srgbClr val="FFB86C">
              <a:alpha val="18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86016" y="20299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고분자공학과 맞춤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108960" y="2450592"/>
            <a:ext cx="1810512" cy="329184"/>
          </a:xfrm>
          <a:prstGeom prst="rect">
            <a:avLst/>
          </a:prstGeom>
          <a:solidFill>
            <a:srgbClr val="F1FA8C">
              <a:alpha val="18000"/>
            </a:srgbClr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08960" y="245059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Skills 활용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47488" y="2450592"/>
            <a:ext cx="1810512" cy="329184"/>
          </a:xfrm>
          <a:prstGeom prst="rect">
            <a:avLst/>
          </a:prstGeom>
          <a:solidFill>
            <a:srgbClr val="BD93F9">
              <a:alpha val="18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47488" y="245059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실습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986016" y="2450592"/>
            <a:ext cx="1810512" cy="329184"/>
          </a:xfrm>
          <a:prstGeom prst="rect">
            <a:avLst/>
          </a:prstGeom>
          <a:solidFill>
            <a:srgbClr val="FF79C6">
              <a:alpha val="18000"/>
            </a:srgbClr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86016" y="245059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79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정리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1F2A"/>
          </a:solidFill>
          <a:ln w="12700">
            <a:solidFill>
              <a:srgbClr val="1E1F2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017520" y="49057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</a:t>
            </a:r>
            <a:r>
              <a:rPr lang="ko-KR" alt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sz="750" dirty="0" err="1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</a:t>
            </a: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세미나  ·  </a:t>
            </a:r>
            <a:r>
              <a:rPr lang="ko-KR" alt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고분자</a:t>
            </a: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공학과</a:t>
            </a: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65509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</a:t>
            </a:r>
            <a:r>
              <a:rPr lang="ko-KR" alt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연구지원</a:t>
            </a: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BD93F9">
              <a:alpha val="8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세미나에서 배울 것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후, 여러분은 </a:t>
            </a:r>
            <a:r>
              <a:rPr lang="en-US" sz="1200" dirty="0" err="1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Claude를</a:t>
            </a: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sz="1200" dirty="0" err="1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업무에</a:t>
            </a: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바로 쓸 수 있습니다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822960"/>
            <a:ext cx="2084832" cy="329184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822960"/>
            <a:ext cx="2084832" cy="54864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24128"/>
            <a:ext cx="475488" cy="4754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10896" y="162763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이해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" y="1993392"/>
            <a:ext cx="1170432" cy="36576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0896" y="2084832"/>
            <a:ext cx="1865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무엇인지, Claude가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도구와 어떻게 다른지 파악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432304" y="822960"/>
            <a:ext cx="2084832" cy="3291840"/>
          </a:xfrm>
          <a:prstGeom prst="rect">
            <a:avLst/>
          </a:prstGeom>
          <a:solidFill>
            <a:srgbClr val="313450"/>
          </a:solidFill>
          <a:ln w="15240">
            <a:solidFill>
              <a:srgbClr val="50FA7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32304" y="822960"/>
            <a:ext cx="2084832" cy="54864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1024128"/>
            <a:ext cx="475488" cy="4754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42032" y="162763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</a:t>
            </a:r>
            <a:r>
              <a:rPr lang="en-US" sz="1400" b="1" dirty="0" err="1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</a:t>
            </a:r>
            <a:r>
              <a:rPr lang="en-US" sz="14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활용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2889504" y="1993392"/>
            <a:ext cx="1170432" cy="36576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42032" y="2084832"/>
            <a:ext cx="1865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이메일·보고서·번역·요약을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Claude로 10배 빠르게 처리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663440" y="822960"/>
            <a:ext cx="2084832" cy="3291840"/>
          </a:xfrm>
          <a:prstGeom prst="rect">
            <a:avLst/>
          </a:prstGeom>
          <a:solidFill>
            <a:srgbClr val="313450"/>
          </a:solidFill>
          <a:ln w="15240">
            <a:solidFill>
              <a:srgbClr val="F1FA8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663440" y="822960"/>
            <a:ext cx="2084832" cy="54864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1024128"/>
            <a:ext cx="475488" cy="4754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73168" y="162763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 활용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5120640" y="1993392"/>
            <a:ext cx="1170432" cy="36576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773168" y="2084832"/>
            <a:ext cx="1865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hwpx·PPT·Excel 자동 생성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버튼 하나로 문서 완성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894576" y="822960"/>
            <a:ext cx="2084832" cy="3291840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894576" y="822960"/>
            <a:ext cx="2084832" cy="54864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1024128"/>
            <a:ext cx="475488" cy="4754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04304" y="162763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완성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7351776" y="1993392"/>
            <a:ext cx="1170432" cy="36576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004304" y="2084832"/>
            <a:ext cx="1865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내용을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</a:t>
            </a:r>
            <a:r>
              <a:rPr lang="ko-KR" alt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</a:t>
            </a:r>
            <a:r>
              <a:rPr lang="en-US" sz="1100" dirty="0" err="1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업무에</a:t>
            </a: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적용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201168" y="4251960"/>
            <a:ext cx="8741664" cy="237744"/>
          </a:xfrm>
          <a:prstGeom prst="rect">
            <a:avLst/>
          </a:prstGeom>
          <a:solidFill>
            <a:srgbClr val="1E1F2A"/>
          </a:solidFill>
          <a:ln w="6350">
            <a:solidFill>
              <a:srgbClr val="6272A4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201168" y="4251960"/>
            <a:ext cx="1828800" cy="237744"/>
          </a:xfrm>
          <a:prstGeom prst="rect">
            <a:avLst/>
          </a:prstGeom>
          <a:solidFill>
            <a:srgbClr val="8BE9FD">
              <a:alpha val="30000"/>
            </a:srgbClr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201168" y="4251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10분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2029968" y="4251960"/>
            <a:ext cx="1828800" cy="237744"/>
          </a:xfrm>
          <a:prstGeom prst="rect">
            <a:avLst/>
          </a:prstGeom>
          <a:solidFill>
            <a:srgbClr val="50FA7B">
              <a:alpha val="3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029968" y="4251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10분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3858768" y="4251960"/>
            <a:ext cx="1645920" cy="237744"/>
          </a:xfrm>
          <a:prstGeom prst="rect">
            <a:avLst/>
          </a:prstGeom>
          <a:solidFill>
            <a:srgbClr val="FFB86C">
              <a:alpha val="30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3858768" y="42519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고분자공학과 7분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5504688" y="4251960"/>
            <a:ext cx="2011680" cy="237744"/>
          </a:xfrm>
          <a:prstGeom prst="rect">
            <a:avLst/>
          </a:prstGeom>
          <a:solidFill>
            <a:srgbClr val="F1FA8C">
              <a:alpha val="30000"/>
            </a:srgbClr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5504688" y="4251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 15분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7516368" y="4251960"/>
            <a:ext cx="1426464" cy="237744"/>
          </a:xfrm>
          <a:prstGeom prst="rect">
            <a:avLst/>
          </a:prstGeom>
          <a:solidFill>
            <a:srgbClr val="BD93F9">
              <a:alpha val="3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516368" y="425196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18분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9606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8BE9FD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 이해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뭔지, Claude가 뭔지 — 10분 안에 파악하기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2212848"/>
            <a:ext cx="4572000" cy="36576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</a:t>
            </a: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717232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8BE9FD">
              <a:alpha val="80000"/>
            </a:srgbClr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Claude란 무엇인가?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검색엔진과 다른 AI 비서 — 그리고 ChatGPT와의 차이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4096512" cy="320040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04672"/>
            <a:ext cx="4096512" cy="54864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8778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= AI 비서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1298448"/>
            <a:ext cx="3858768" cy="1097280"/>
          </a:xfrm>
          <a:prstGeom prst="rect">
            <a:avLst/>
          </a:prstGeom>
          <a:solidFill>
            <a:srgbClr val="1E1F2A"/>
          </a:solidFill>
          <a:ln w="10160">
            <a:solidFill>
              <a:srgbClr val="6272A4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27632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14081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검색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1719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링크를 찾아줌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2578608"/>
            <a:ext cx="3858768" cy="1097280"/>
          </a:xfrm>
          <a:prstGeom prst="rect">
            <a:avLst/>
          </a:prstGeom>
          <a:solidFill>
            <a:srgbClr val="1E1F2A"/>
          </a:solidFill>
          <a:ln w="10160">
            <a:solidFill>
              <a:srgbClr val="8BE9FD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07792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14400" y="26883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914400" y="2999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답을 만들어줌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425696" y="804672"/>
            <a:ext cx="4498848" cy="3200400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25696" y="804672"/>
            <a:ext cx="4498848" cy="54864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35424" y="87782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vs ChatGPT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572000" y="1261872"/>
            <a:ext cx="1188720" cy="256032"/>
          </a:xfrm>
          <a:prstGeom prst="rect">
            <a:avLst/>
          </a:prstGeom>
          <a:solidFill>
            <a:srgbClr val="BD93F9">
              <a:alpha val="4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0" y="1261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943600" y="1261872"/>
            <a:ext cx="1371600" cy="256032"/>
          </a:xfrm>
          <a:prstGeom prst="rect">
            <a:avLst/>
          </a:prstGeom>
          <a:solidFill>
            <a:srgbClr val="BD93F9">
              <a:alpha val="4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943600" y="1261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7315200" y="1261872"/>
            <a:ext cx="1463040" cy="256032"/>
          </a:xfrm>
          <a:prstGeom prst="rect">
            <a:avLst/>
          </a:prstGeom>
          <a:solidFill>
            <a:srgbClr val="BD93F9">
              <a:alpha val="4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315200" y="1261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572000" y="1572768"/>
            <a:ext cx="1188720" cy="402336"/>
          </a:xfrm>
          <a:prstGeom prst="rect">
            <a:avLst/>
          </a:prstGeom>
          <a:solidFill>
            <a:srgbClr val="1E1F2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72000" y="15727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품질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5943600" y="1572768"/>
            <a:ext cx="1371600" cy="402336"/>
          </a:xfrm>
          <a:prstGeom prst="rect">
            <a:avLst/>
          </a:prstGeom>
          <a:solidFill>
            <a:srgbClr val="1E1F2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943600" y="1572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7315200" y="1572768"/>
            <a:ext cx="1463040" cy="402336"/>
          </a:xfrm>
          <a:prstGeom prst="rect">
            <a:avLst/>
          </a:prstGeom>
          <a:solidFill>
            <a:srgbClr val="1E1F2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315200" y="15727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★★★★☆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572000" y="2029968"/>
            <a:ext cx="1188720" cy="402336"/>
          </a:xfrm>
          <a:prstGeom prst="rect">
            <a:avLst/>
          </a:prstGeom>
          <a:solidFill>
            <a:srgbClr val="313450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572000" y="20299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문맥 길이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5943600" y="2029968"/>
            <a:ext cx="1371600" cy="402336"/>
          </a:xfrm>
          <a:prstGeom prst="rect">
            <a:avLst/>
          </a:prstGeom>
          <a:solidFill>
            <a:srgbClr val="313450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943600" y="20299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200K 토큰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7315200" y="2029968"/>
            <a:ext cx="1463040" cy="402336"/>
          </a:xfrm>
          <a:prstGeom prst="rect">
            <a:avLst/>
          </a:prstGeom>
          <a:solidFill>
            <a:srgbClr val="313450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315200" y="20299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128K 토큰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4572000" y="2487168"/>
            <a:ext cx="1188720" cy="402336"/>
          </a:xfrm>
          <a:prstGeom prst="rect">
            <a:avLst/>
          </a:prstGeom>
          <a:solidFill>
            <a:srgbClr val="1E1F2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572000" y="24871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안전·윤리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5943600" y="2487168"/>
            <a:ext cx="1371600" cy="402336"/>
          </a:xfrm>
          <a:prstGeom prst="rect">
            <a:avLst/>
          </a:prstGeom>
          <a:solidFill>
            <a:srgbClr val="1E1F2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943600" y="24871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매우 강함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7315200" y="2487168"/>
            <a:ext cx="1463040" cy="402336"/>
          </a:xfrm>
          <a:prstGeom prst="rect">
            <a:avLst/>
          </a:prstGeom>
          <a:solidFill>
            <a:srgbClr val="1E1F2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315200" y="24871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강함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4572000" y="2944368"/>
            <a:ext cx="1188720" cy="402336"/>
          </a:xfrm>
          <a:prstGeom prst="rect">
            <a:avLst/>
          </a:prstGeom>
          <a:solidFill>
            <a:srgbClr val="313450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572000" y="29443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코딩 지원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5943600" y="2944368"/>
            <a:ext cx="1371600" cy="402336"/>
          </a:xfrm>
          <a:prstGeom prst="rect">
            <a:avLst/>
          </a:prstGeom>
          <a:solidFill>
            <a:srgbClr val="313450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943600" y="29443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7315200" y="2944368"/>
            <a:ext cx="1463040" cy="402336"/>
          </a:xfrm>
          <a:prstGeom prst="rect">
            <a:avLst/>
          </a:prstGeom>
          <a:solidFill>
            <a:srgbClr val="313450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315200" y="29443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4572000" y="3401568"/>
            <a:ext cx="1188720" cy="402336"/>
          </a:xfrm>
          <a:prstGeom prst="rect">
            <a:avLst/>
          </a:prstGeom>
          <a:solidFill>
            <a:srgbClr val="1E1F2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572000" y="34015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가격</a:t>
            </a:r>
            <a:endParaRPr lang="en-US" sz="1000" dirty="0"/>
          </a:p>
        </p:txBody>
      </p:sp>
      <p:sp>
        <p:nvSpPr>
          <p:cNvPr id="57" name="Shape 53"/>
          <p:cNvSpPr/>
          <p:nvPr/>
        </p:nvSpPr>
        <p:spPr>
          <a:xfrm>
            <a:off x="5943600" y="3401568"/>
            <a:ext cx="1371600" cy="402336"/>
          </a:xfrm>
          <a:prstGeom prst="rect">
            <a:avLst/>
          </a:prstGeom>
          <a:solidFill>
            <a:srgbClr val="1E1F2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943600" y="3401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$20/월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7315200" y="3401568"/>
            <a:ext cx="1463040" cy="402336"/>
          </a:xfrm>
          <a:prstGeom prst="rect">
            <a:avLst/>
          </a:prstGeom>
          <a:solidFill>
            <a:srgbClr val="1E1F2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7315200" y="34015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$20/월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2589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8BE9FD">
              <a:alpha val="80000"/>
            </a:srgbClr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Claude로 할 수 있는 것 &amp; 주의사항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무엇이든 가능하지 않다 — 잘 쓰려면 한계도 알아야 한다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" y="7863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할 수 있는 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4592" y="1133856"/>
            <a:ext cx="1920240" cy="841248"/>
          </a:xfrm>
          <a:prstGeom prst="rect">
            <a:avLst/>
          </a:prstGeom>
          <a:solidFill>
            <a:srgbClr val="313450"/>
          </a:solidFill>
          <a:ln w="12700">
            <a:solidFill>
              <a:srgbClr val="50FA7B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335024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1335024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문서·이메일 작성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221992" y="1133856"/>
            <a:ext cx="1920240" cy="841248"/>
          </a:xfrm>
          <a:prstGeom prst="rect">
            <a:avLst/>
          </a:prstGeom>
          <a:solidFill>
            <a:srgbClr val="313450"/>
          </a:solidFill>
          <a:ln w="12700">
            <a:solidFill>
              <a:srgbClr val="8BE9F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584" y="1335024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88920" y="1335024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&amp; 정리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64592" y="2121408"/>
            <a:ext cx="1920240" cy="841248"/>
          </a:xfrm>
          <a:prstGeom prst="rect">
            <a:avLst/>
          </a:prstGeom>
          <a:solidFill>
            <a:srgbClr val="313450"/>
          </a:solidFill>
          <a:ln w="12700">
            <a:solidFill>
              <a:srgbClr val="FFB86C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1520" y="23225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&amp; 교정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221992" y="2121408"/>
            <a:ext cx="1920240" cy="841248"/>
          </a:xfrm>
          <a:prstGeom prst="rect">
            <a:avLst/>
          </a:prstGeom>
          <a:solidFill>
            <a:srgbClr val="313450"/>
          </a:solidFill>
          <a:ln w="12700">
            <a:solidFill>
              <a:srgbClr val="F1FA8C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6584" y="232257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788920" y="23225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발산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64592" y="3108960"/>
            <a:ext cx="1920240" cy="841248"/>
          </a:xfrm>
          <a:prstGeom prst="rect">
            <a:avLst/>
          </a:prstGeom>
          <a:solidFill>
            <a:srgbClr val="313450"/>
          </a:solidFill>
          <a:ln w="12700">
            <a:solidFill>
              <a:srgbClr val="BD93F9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" y="331012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" y="331012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표·보고서 생성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2221992" y="3108960"/>
            <a:ext cx="1920240" cy="841248"/>
          </a:xfrm>
          <a:prstGeom prst="rect">
            <a:avLst/>
          </a:prstGeom>
          <a:solidFill>
            <a:srgbClr val="313450"/>
          </a:solidFill>
          <a:ln w="12700">
            <a:solidFill>
              <a:srgbClr val="FF79C6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6584" y="3310128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788920" y="331012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도움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462272" y="7863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주의사항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4462272" y="1133856"/>
            <a:ext cx="4425696" cy="960120"/>
          </a:xfrm>
          <a:prstGeom prst="rect">
            <a:avLst/>
          </a:prstGeom>
          <a:solidFill>
            <a:srgbClr val="313450"/>
          </a:solidFill>
          <a:ln w="15240">
            <a:solidFill>
              <a:srgbClr val="FF5555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1408176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065776" y="1225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정보 모름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065776" y="15361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이후 뉴스·주가 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검색 필요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4462272" y="2231136"/>
            <a:ext cx="4425696" cy="960120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2505456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065776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환각(오류) 가능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5065776" y="26334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수치·사실은 반드시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본인이 확인·검증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4462272" y="3328416"/>
            <a:ext cx="4425696" cy="960120"/>
          </a:xfrm>
          <a:prstGeom prst="rect">
            <a:avLst/>
          </a:prstGeom>
          <a:solidFill>
            <a:srgbClr val="313450"/>
          </a:solidFill>
          <a:ln w="15240">
            <a:solidFill>
              <a:srgbClr val="F1FA8C"/>
            </a:solidFill>
            <a:prstDash val="solid"/>
          </a:ln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3602736"/>
            <a:ext cx="347472" cy="34747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065776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기밀 입력 금지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5065776" y="37307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기밀·개인정보는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입력하지 말 것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3826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8BE9FD">
              <a:alpha val="80000"/>
            </a:srgbClr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질문이 좋은 답을 만든다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3요소 공식 — 역할 + 맥락 + 원하는 형식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749808"/>
            <a:ext cx="2852928" cy="237744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749808"/>
            <a:ext cx="2852928" cy="54864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877824"/>
            <a:ext cx="475488" cy="4754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10896" y="14264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부여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8368" y="1792224"/>
            <a:ext cx="1938528" cy="36576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0896" y="1883664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"너는 전문 기술 번역가야"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191256" y="749808"/>
            <a:ext cx="2852928" cy="2377440"/>
          </a:xfrm>
          <a:prstGeom prst="rect">
            <a:avLst/>
          </a:prstGeom>
          <a:solidFill>
            <a:srgbClr val="313450"/>
          </a:solidFill>
          <a:ln w="15240">
            <a:solidFill>
              <a:srgbClr val="50FA7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191256" y="749808"/>
            <a:ext cx="2852928" cy="54864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877824"/>
            <a:ext cx="475488" cy="4754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00984" y="14264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설명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3648456" y="1792224"/>
            <a:ext cx="1938528" cy="36576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00984" y="1883664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"다음 접착제 스펙 문서를 번역해줘"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181344" y="749808"/>
            <a:ext cx="2852928" cy="2377440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81344" y="749808"/>
            <a:ext cx="2852928" cy="54864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877824"/>
            <a:ext cx="475488" cy="4754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91072" y="1426464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지정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6638544" y="1792224"/>
            <a:ext cx="1938528" cy="36576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291072" y="1883664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"한국어↔영어 대조표 형태로 만들어줘"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938528" y="17373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72A4"/>
                </a:solidFill>
              </a:rPr>
              <a:t>▶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928616" y="17373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72A4"/>
                </a:solidFill>
              </a:rPr>
              <a:t>▶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201168" y="3255264"/>
            <a:ext cx="4096512" cy="1280160"/>
          </a:xfrm>
          <a:prstGeom prst="rect">
            <a:avLst/>
          </a:prstGeom>
          <a:solidFill>
            <a:srgbClr val="1E1F2A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10896" y="3310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나쁜 프롬프트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310896" y="360273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"번역해줘"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4462272" y="3255264"/>
            <a:ext cx="4462272" cy="1280160"/>
          </a:xfrm>
          <a:prstGeom prst="rect">
            <a:avLst/>
          </a:prstGeom>
          <a:solidFill>
            <a:srgbClr val="1E1F2A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572000" y="3310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좋은 프롬프트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4572000" y="3602736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"기술 번역가로서 이 접착제 스펙 문서를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한↔영 </a:t>
            </a:r>
            <a:r>
              <a:rPr lang="en-US" sz="1100" dirty="0" err="1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대조표로</a:t>
            </a: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번역해줘</a:t>
            </a: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계획을 세워</a:t>
            </a:r>
            <a:r>
              <a:rPr lang="en-US" altLang="ko-KR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.-&gt; </a:t>
            </a:r>
            <a:r>
              <a:rPr lang="ko-KR" alt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61501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50FA7B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</a:t>
            </a:r>
            <a:r>
              <a:rPr lang="en-US" sz="3400" b="1" dirty="0" err="1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</a:t>
            </a: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활용 실전 전략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이메일·보고서·번역·요약·아이디어 — 10분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2212848"/>
            <a:ext cx="4572000" cy="36576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427943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50FA7B">
              <a:alpha val="8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작성 자동화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보고서·이메일·기안문 초안을 Claude가 대신 써준다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804672"/>
            <a:ext cx="2852928" cy="3474720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804672"/>
            <a:ext cx="2852928" cy="54864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32688"/>
            <a:ext cx="475488" cy="4754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10896" y="148132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초안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5760" y="1865376"/>
            <a:ext cx="2523744" cy="1078992"/>
          </a:xfrm>
          <a:prstGeom prst="rect">
            <a:avLst/>
          </a:prstGeom>
          <a:solidFill>
            <a:srgbClr val="1E1F2A"/>
          </a:solidFill>
          <a:ln w="6350">
            <a:solidFill>
              <a:srgbClr val="FFB86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" y="1901952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"거래처에 납기 연장 요청 이메일을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정중하고 전문적으로 써줘"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10896" y="2999232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제목·인사·본문·마무리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완성 (30초)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191256" y="804672"/>
            <a:ext cx="2852928" cy="347472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91256" y="804672"/>
            <a:ext cx="2852928" cy="54864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932688"/>
            <a:ext cx="475488" cy="4754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00984" y="148132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정리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355848" y="1865376"/>
            <a:ext cx="2523744" cy="1078992"/>
          </a:xfrm>
          <a:prstGeom prst="rect">
            <a:avLst/>
          </a:prstGeom>
          <a:solidFill>
            <a:srgbClr val="1E1F2A"/>
          </a:solidFill>
          <a:ln w="6350">
            <a:solidFill>
              <a:srgbClr val="8BE9F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10712" y="1901952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키워드로 회의록을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항목별로 정리해줘: [키워드 나열]"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300984" y="2999232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안건·논의·결정사항·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자동 정리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181344" y="804672"/>
            <a:ext cx="2852928" cy="3474720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81344" y="804672"/>
            <a:ext cx="2852928" cy="54864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932688"/>
            <a:ext cx="475488" cy="4754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91072" y="1481328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보고서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345936" y="1865376"/>
            <a:ext cx="2523744" cy="1078992"/>
          </a:xfrm>
          <a:prstGeom prst="rect">
            <a:avLst/>
          </a:prstGeom>
          <a:solidFill>
            <a:srgbClr val="1E1F2A"/>
          </a:solidFill>
          <a:ln w="6350">
            <a:solidFill>
              <a:srgbClr val="BD93F9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400800" y="1901952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"이번 주 업무 내용을 아래 형식으로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보고서로 만들어줘: [내용]"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291072" y="2999232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성과·이슈·계획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형식 완성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65100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50FA7B">
              <a:alpha val="8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요약·번역·아이디어 발산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문서를 3줄로, 어려운 영어를 한국어로, 막막한 기획을 10가지 아이디어로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804672"/>
            <a:ext cx="2852928" cy="347472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804672"/>
            <a:ext cx="2852928" cy="54864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475488" cy="4754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10896" y="14630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10896" y="1828800"/>
            <a:ext cx="2633472" cy="347472"/>
          </a:xfrm>
          <a:prstGeom prst="rect">
            <a:avLst/>
          </a:prstGeom>
          <a:solidFill>
            <a:srgbClr val="6272A4">
              <a:alpha val="25000"/>
            </a:srgbClr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18470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50페이지 연구보고서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10896" y="2249424"/>
            <a:ext cx="2633472" cy="877824"/>
          </a:xfrm>
          <a:prstGeom prst="rect">
            <a:avLst/>
          </a:prstGeom>
          <a:solidFill>
            <a:srgbClr val="1E1F2A"/>
          </a:solidFill>
          <a:ln w="6350">
            <a:solidFill>
              <a:srgbClr val="8BE9F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2286000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내용을 핵심만 3줄로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요약해줘 + 중요 수치만 표로"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10896" y="3182112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핵심 3줄 + 수치 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(2분 이내)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191256" y="804672"/>
            <a:ext cx="2852928" cy="3474720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191256" y="804672"/>
            <a:ext cx="2852928" cy="54864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914400"/>
            <a:ext cx="475488" cy="4754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300984" y="14630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번역·교정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3300984" y="1828800"/>
            <a:ext cx="2633472" cy="347472"/>
          </a:xfrm>
          <a:prstGeom prst="rect">
            <a:avLst/>
          </a:prstGeom>
          <a:solidFill>
            <a:srgbClr val="6272A4">
              <a:alpha val="25000"/>
            </a:srgbClr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55848" y="18470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영문 접착제 스펙 시트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300984" y="2249424"/>
            <a:ext cx="2633472" cy="877824"/>
          </a:xfrm>
          <a:prstGeom prst="rect">
            <a:avLst/>
          </a:prstGeom>
          <a:solidFill>
            <a:srgbClr val="1E1F2A"/>
          </a:solidFill>
          <a:ln w="6350">
            <a:solidFill>
              <a:srgbClr val="FFB86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55848" y="2286000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"기술 전문가로서 번역하고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어색한 표현도 교정해줘"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300984" y="3182112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자연스러운 한국어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용어 통일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181344" y="804672"/>
            <a:ext cx="2852928" cy="3474720"/>
          </a:xfrm>
          <a:prstGeom prst="rect">
            <a:avLst/>
          </a:prstGeom>
          <a:solidFill>
            <a:srgbClr val="313450"/>
          </a:solidFill>
          <a:ln w="15240">
            <a:solidFill>
              <a:srgbClr val="F1FA8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81344" y="804672"/>
            <a:ext cx="2852928" cy="54864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914400"/>
            <a:ext cx="475488" cy="47548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291072" y="14630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발산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6291072" y="1828800"/>
            <a:ext cx="2633472" cy="347472"/>
          </a:xfrm>
          <a:prstGeom prst="rect">
            <a:avLst/>
          </a:prstGeom>
          <a:solidFill>
            <a:srgbClr val="6272A4">
              <a:alpha val="25000"/>
            </a:srgbClr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345936" y="18470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신제품 마케팅 막막함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291072" y="2249424"/>
            <a:ext cx="2633472" cy="877824"/>
          </a:xfrm>
          <a:prstGeom prst="rect">
            <a:avLst/>
          </a:prstGeom>
          <a:solidFill>
            <a:srgbClr val="1E1F2A"/>
          </a:solidFill>
          <a:ln w="6350">
            <a:solidFill>
              <a:srgbClr val="F1FA8C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345936" y="2286000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"접착제 신제품 B2B 마케팅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아이디어 10가지 뽑아줘"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291072" y="3182112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10가지 아이디어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각 1줄 설명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69882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50FA7B">
              <a:alpha val="8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업무를 템플릿으로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새로 쓰지 말고 — Claude Projects로 나만의 AI 비서 만들기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8759952" cy="731520"/>
          </a:xfrm>
          <a:prstGeom prst="rect">
            <a:avLst/>
          </a:prstGeom>
          <a:solidFill>
            <a:srgbClr val="313450"/>
          </a:solidFill>
          <a:ln w="15240">
            <a:solidFill>
              <a:srgbClr val="50FA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04672"/>
            <a:ext cx="73152" cy="73152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841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Claude Projects란?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" y="1133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프로젝트별로 맥락을 저장해두면 — 매번 설명 없이 바로 업무 시작!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1682496"/>
            <a:ext cx="2852928" cy="256032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1682496"/>
            <a:ext cx="2852928" cy="54864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181051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이메일 템플릿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212848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Projects에 '우리 회사 소개' 저장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798064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'견적 이메일 써줘' 한 마디면 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스타일·용어 자동 통일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91256" y="1682496"/>
            <a:ext cx="2852928" cy="2560320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91256" y="1682496"/>
            <a:ext cx="2852928" cy="54864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181051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보고 템플릿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55848" y="2212848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보고서 양식을 Projects에 업로드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55848" y="2798064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이번 주 내용만 요약해서 입력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55848" y="3383280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정해진 형식대로 자동 완성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1344" y="1682496"/>
            <a:ext cx="2852928" cy="2560320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1682496"/>
            <a:ext cx="2852928" cy="54864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181051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문서 번역 템플릿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45936" y="2212848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전문 용어 사전을 Projects에 저장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45936" y="2798064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원문 붙여넣기만 하면 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3383280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용어 일관성 자동 유지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4592" y="4343400"/>
            <a:ext cx="8759952" cy="475488"/>
          </a:xfrm>
          <a:prstGeom prst="rect">
            <a:avLst/>
          </a:prstGeom>
          <a:solidFill>
            <a:srgbClr val="50FA7B">
              <a:alpha val="15000"/>
            </a:srgbClr>
          </a:solidFill>
          <a:ln w="6350">
            <a:solidFill>
              <a:srgbClr val="50FA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379976"/>
            <a:ext cx="8577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 업무 시간 절약 효과: 문서 작성 30분 → 5분  |  번역 2시간 → 15분  |  보고서 1시간 → 10분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6566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FB86C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고분자공학과 맞춤 활용법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접착제 R&amp;D 기업에 특화된 Claude 활용 전략 — 7분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2212848"/>
            <a:ext cx="4572000" cy="36576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428470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B86C">
              <a:alpha val="80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접착제 R&amp;D에 Claude 활용하기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요약 · 특허 조사 · 실험 보고서 초안 — 연구 업무에 바로 적용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804672"/>
            <a:ext cx="4315968" cy="182880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804672"/>
            <a:ext cx="4315968" cy="54864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35024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9536" y="914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요약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59536" y="1280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영문 논문 PDF 붙여넣기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핵심 내용·결론·수치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3단 요약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511296" y="1316736"/>
            <a:ext cx="877824" cy="804672"/>
          </a:xfrm>
          <a:prstGeom prst="rect">
            <a:avLst/>
          </a:prstGeom>
          <a:solidFill>
            <a:srgbClr val="8BE9FD">
              <a:alpha val="20000"/>
            </a:srgbClr>
          </a:solidFill>
          <a:ln w="6350">
            <a:solidFill>
              <a:srgbClr val="8BE9F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11296" y="1316736"/>
            <a:ext cx="877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 → 2분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00016" y="804672"/>
            <a:ext cx="4315968" cy="1828800"/>
          </a:xfrm>
          <a:prstGeom prst="rect">
            <a:avLst/>
          </a:prstGeom>
          <a:solidFill>
            <a:srgbClr val="313450"/>
          </a:solidFill>
          <a:ln w="15240">
            <a:solidFill>
              <a:srgbClr val="50FA7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0016" y="804672"/>
            <a:ext cx="4315968" cy="54864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335024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58384" y="914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조사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358384" y="1280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제품 특허 청구항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핵심 기술 추출 +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당사 제품과 차별점 분석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10144" y="1316736"/>
            <a:ext cx="877824" cy="804672"/>
          </a:xfrm>
          <a:prstGeom prst="rect">
            <a:avLst/>
          </a:prstGeom>
          <a:solidFill>
            <a:srgbClr val="50FA7B">
              <a:alpha val="20000"/>
            </a:srgbClr>
          </a:solidFill>
          <a:ln w="6350">
            <a:solidFill>
              <a:srgbClr val="50FA7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010144" y="1316736"/>
            <a:ext cx="877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→ 1시간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201168" y="2798064"/>
            <a:ext cx="4315968" cy="1828800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01168" y="2798064"/>
            <a:ext cx="4315968" cy="54864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328416"/>
            <a:ext cx="384048" cy="38404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59536" y="2907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보고서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59536" y="327355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데이터 수치 입력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결과 해석·고찰·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 초안 생성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511296" y="3310128"/>
            <a:ext cx="877824" cy="804672"/>
          </a:xfrm>
          <a:prstGeom prst="rect">
            <a:avLst/>
          </a:prstGeom>
          <a:solidFill>
            <a:srgbClr val="FFB86C">
              <a:alpha val="20000"/>
            </a:srgbClr>
          </a:solidFill>
          <a:ln w="6350">
            <a:solidFill>
              <a:srgbClr val="FFB86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511296" y="3310128"/>
            <a:ext cx="877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2시간 → 20분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700016" y="2798064"/>
            <a:ext cx="4315968" cy="1828800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00016" y="2798064"/>
            <a:ext cx="4315968" cy="54864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328416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358384" y="2907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제안서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5358384" y="327355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요구사항 입력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접착제 솔루션 제안서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전문적 문체로 작성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8010144" y="3310128"/>
            <a:ext cx="877824" cy="804672"/>
          </a:xfrm>
          <a:prstGeom prst="rect">
            <a:avLst/>
          </a:prstGeom>
          <a:solidFill>
            <a:srgbClr val="BD93F9">
              <a:alpha val="20000"/>
            </a:srgbClr>
          </a:solidFill>
          <a:ln w="6350">
            <a:solidFill>
              <a:srgbClr val="BD93F9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010144" y="3310128"/>
            <a:ext cx="877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반나절 → 1시간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9257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B86C">
              <a:alpha val="80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주의사항 &amp; 플랜 선택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쓰려면 이것만은 반드시 — 그리고 회사 도입 옵션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4224528" cy="3200400"/>
          </a:xfrm>
          <a:prstGeom prst="rect">
            <a:avLst/>
          </a:prstGeom>
          <a:solidFill>
            <a:srgbClr val="313450"/>
          </a:solidFill>
          <a:ln w="19050">
            <a:solidFill>
              <a:srgbClr val="FF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04672"/>
            <a:ext cx="4224528" cy="54864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87782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절대 입력 금지 항목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1280160"/>
            <a:ext cx="4005072" cy="420624"/>
          </a:xfrm>
          <a:prstGeom prst="rect">
            <a:avLst/>
          </a:prstGeom>
          <a:solidFill>
            <a:srgbClr val="1E1F2A"/>
          </a:solidFill>
          <a:ln w="6350">
            <a:solidFill>
              <a:srgbClr val="FF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316736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  회사 기밀 기술 문서·특허 미출원 내용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773936"/>
            <a:ext cx="4005072" cy="420624"/>
          </a:xfrm>
          <a:prstGeom prst="rect">
            <a:avLst/>
          </a:prstGeom>
          <a:solidFill>
            <a:srgbClr val="1E1F2A"/>
          </a:solidFill>
          <a:ln w="6350">
            <a:solidFill>
              <a:srgbClr val="FF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81051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  고객사 개인정보 (이름·연락처·계약금액)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267712"/>
            <a:ext cx="4005072" cy="420624"/>
          </a:xfrm>
          <a:prstGeom prst="rect">
            <a:avLst/>
          </a:prstGeom>
          <a:solidFill>
            <a:srgbClr val="1E1F2A"/>
          </a:solidFill>
          <a:ln w="6350">
            <a:solidFill>
              <a:srgbClr val="FF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304288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  내부 재무 데이터·원가 정보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4005072" cy="420624"/>
          </a:xfrm>
          <a:prstGeom prst="rect">
            <a:avLst/>
          </a:prstGeom>
          <a:solidFill>
            <a:srgbClr val="1E1F2A"/>
          </a:solidFill>
          <a:ln w="6350">
            <a:solidFill>
              <a:srgbClr val="FF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79806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  비공개 연구 데이터·실험 수치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64592" y="3310128"/>
            <a:ext cx="4224528" cy="585216"/>
          </a:xfrm>
          <a:prstGeom prst="rect">
            <a:avLst/>
          </a:prstGeom>
          <a:solidFill>
            <a:srgbClr val="FF5555">
              <a:alpha val="15000"/>
            </a:srgbClr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346704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 입력한 내용은 학습에 사용될 수 있습니다.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기밀 정보는 반드시 익명화·일반화 후 입력하세요.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53712" y="804672"/>
            <a:ext cx="4370832" cy="3200400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804672"/>
            <a:ext cx="4370832" cy="54864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877824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 선택 가이드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1280160"/>
            <a:ext cx="4151376" cy="621792"/>
          </a:xfrm>
          <a:prstGeom prst="rect">
            <a:avLst/>
          </a:prstGeom>
          <a:solidFill>
            <a:srgbClr val="1E1F2A"/>
          </a:solidFill>
          <a:ln w="6350">
            <a:solidFill>
              <a:srgbClr val="6272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3533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42432" y="1353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162763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대화·요약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975104"/>
            <a:ext cx="4151376" cy="621792"/>
          </a:xfrm>
          <a:prstGeom prst="rect">
            <a:avLst/>
          </a:prstGeom>
          <a:solidFill>
            <a:srgbClr val="50FA7B">
              <a:alpha val="20000"/>
            </a:srgbClr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048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42432" y="2048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$20/월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23225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문맥·파일 업로드·Projects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67728" y="2103120"/>
            <a:ext cx="1719072" cy="237744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210312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8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추천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670048"/>
            <a:ext cx="4151376" cy="621792"/>
          </a:xfrm>
          <a:prstGeom prst="rect">
            <a:avLst/>
          </a:prstGeom>
          <a:solidFill>
            <a:srgbClr val="1E1F2A"/>
          </a:solidFill>
          <a:ln w="6350">
            <a:solidFill>
              <a:srgbClr val="8BE9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42432" y="2743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$30/월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301752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전체 + 협업·관리 기능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3401568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👉  처음 시작: Free로 체험 → Pro로 업그레이드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6478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1FA8C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743200" y="137662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 &amp; Claude 제품 활용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hwpx·PPT·Excel·Word 자동 생성 — 15분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2212848"/>
            <a:ext cx="4572000" cy="36576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511838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1FA8C">
              <a:alpha val="80000"/>
            </a:srgbClr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Skills란 무엇인가?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Claude의 능력을 확장하는 모듈 — 앱스토어처럼 설치해서 쓴다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8759952" cy="694944"/>
          </a:xfrm>
          <a:prstGeom prst="rect">
            <a:avLst/>
          </a:prstGeom>
          <a:solidFill>
            <a:srgbClr val="313450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04672"/>
            <a:ext cx="73152" cy="694944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 비유: 스마트폰의 '앱'과 같습니다 — 기본 Claude + Skill = 전문 AI 도구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" y="1627632"/>
            <a:ext cx="4315968" cy="201168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1627632"/>
            <a:ext cx="4315968" cy="54864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75564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 웹에서 설치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15798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Settings → Skills 메뉴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59689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원하는 스킬 ZIP 업로드 또는 선택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03580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저장 → 바로 사용 가능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19856" y="1755648"/>
            <a:ext cx="969264" cy="274320"/>
          </a:xfrm>
          <a:prstGeom prst="rect">
            <a:avLst/>
          </a:prstGeom>
          <a:solidFill>
            <a:srgbClr val="8BE9FD">
              <a:alpha val="25000"/>
            </a:srgbClr>
          </a:solidFill>
          <a:ln w="6350">
            <a:solidFill>
              <a:srgbClr val="8BE9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175564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초보자 추천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0016" y="1627632"/>
            <a:ext cx="4315968" cy="2011680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0016" y="1627632"/>
            <a:ext cx="4315968" cy="54864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75564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Code에서 설치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4608" y="215798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터미널에서 명령어 입력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259689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/plugin marketplace add anthropics/skills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303580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/plugin install pptx@anthropic-skills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18704" y="1755648"/>
            <a:ext cx="969264" cy="274320"/>
          </a:xfrm>
          <a:prstGeom prst="rect">
            <a:avLst/>
          </a:prstGeom>
          <a:solidFill>
            <a:srgbClr val="BD93F9">
              <a:alpha val="25000"/>
            </a:srgbClr>
          </a:solidFill>
          <a:ln w="6350">
            <a:solidFill>
              <a:srgbClr val="BD93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175564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추천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Skills: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627632" y="3730752"/>
            <a:ext cx="1170432" cy="310896"/>
          </a:xfrm>
          <a:prstGeom prst="rect">
            <a:avLst/>
          </a:prstGeom>
          <a:solidFill>
            <a:srgbClr val="8BE9FD">
              <a:alpha val="25000"/>
            </a:srgbClr>
          </a:solidFill>
          <a:ln w="10160">
            <a:solidFill>
              <a:srgbClr val="8BE9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27632" y="373075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hwpx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89504" y="3730752"/>
            <a:ext cx="1170432" cy="310896"/>
          </a:xfrm>
          <a:prstGeom prst="rect">
            <a:avLst/>
          </a:prstGeom>
          <a:solidFill>
            <a:srgbClr val="FFB86C">
              <a:alpha val="25000"/>
            </a:srgbClr>
          </a:solidFill>
          <a:ln w="10160">
            <a:solidFill>
              <a:srgbClr val="FFB8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9504" y="373075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51376" y="3730752"/>
            <a:ext cx="1170432" cy="310896"/>
          </a:xfrm>
          <a:prstGeom prst="rect">
            <a:avLst/>
          </a:prstGeom>
          <a:solidFill>
            <a:srgbClr val="2B5EBE">
              <a:alpha val="25000"/>
            </a:srgbClr>
          </a:solidFill>
          <a:ln w="10160">
            <a:solidFill>
              <a:srgbClr val="2B5E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51376" y="373075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5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docx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13248" y="3730752"/>
            <a:ext cx="1170432" cy="310896"/>
          </a:xfrm>
          <a:prstGeom prst="rect">
            <a:avLst/>
          </a:prstGeom>
          <a:solidFill>
            <a:srgbClr val="1D6F42">
              <a:alpha val="25000"/>
            </a:srgbClr>
          </a:solidFill>
          <a:ln w="10160">
            <a:solidFill>
              <a:srgbClr val="1D6F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13248" y="373075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F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xlsx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75120" y="3730752"/>
            <a:ext cx="1170432" cy="310896"/>
          </a:xfrm>
          <a:prstGeom prst="rect">
            <a:avLst/>
          </a:prstGeom>
          <a:solidFill>
            <a:srgbClr val="FF5555">
              <a:alpha val="25000"/>
            </a:srgbClr>
          </a:solidFill>
          <a:ln w="10160">
            <a:solidFill>
              <a:srgbClr val="FF55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373075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936992" y="3730752"/>
            <a:ext cx="1170432" cy="310896"/>
          </a:xfrm>
          <a:prstGeom prst="rect">
            <a:avLst/>
          </a:prstGeom>
          <a:solidFill>
            <a:srgbClr val="BD93F9">
              <a:alpha val="25000"/>
            </a:srgbClr>
          </a:solidFill>
          <a:ln w="10160">
            <a:solidFill>
              <a:srgbClr val="BD93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36992" y="373075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frontend-design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3274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1FA8C">
              <a:alpha val="80000"/>
            </a:srgbClr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hwpx · docx Skill 실전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문서·Word 문서를 Claude가 직접 만들어준다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4279392" cy="329184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04672"/>
            <a:ext cx="4279392" cy="54864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" y="89611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hwpx Skill — 한글 문서 자동 생성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1298448"/>
            <a:ext cx="4059936" cy="2651760"/>
          </a:xfrm>
          <a:prstGeom prst="rect">
            <a:avLst/>
          </a:prstGeom>
          <a:solidFill>
            <a:srgbClr val="1E1F2A"/>
          </a:solidFill>
          <a:ln w="6350">
            <a:solidFill>
              <a:srgbClr val="8BE9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예시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84048" y="16824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프롬프트: "상속재산목록 양식을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84048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hwpx 파일로 만들어줘"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21945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84048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체크박스 포함 완성 양식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4048" y="27066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표·항목 자동 생성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84048" y="2962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한글(HWP)에서 바로 열림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84048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84048" y="3474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법원 제출용 서류,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84048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결재 문서, 계약서 등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45152" y="804672"/>
            <a:ext cx="4279392" cy="3291840"/>
          </a:xfrm>
          <a:prstGeom prst="rect">
            <a:avLst/>
          </a:prstGeom>
          <a:solidFill>
            <a:srgbClr val="313450"/>
          </a:solidFill>
          <a:ln w="15240">
            <a:solidFill>
              <a:srgbClr val="2B5EB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45152" y="804672"/>
            <a:ext cx="4279392" cy="54864"/>
          </a:xfrm>
          <a:prstGeom prst="rect">
            <a:avLst/>
          </a:prstGeom>
          <a:solidFill>
            <a:srgbClr val="2B5EBE"/>
          </a:solidFill>
          <a:ln w="12700">
            <a:solidFill>
              <a:srgbClr val="2B5EBE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96112"/>
            <a:ext cx="347472" cy="3474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75504" y="89611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E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docx Skill — Word 문서 자동 생성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754880" y="1298448"/>
            <a:ext cx="4059936" cy="2651760"/>
          </a:xfrm>
          <a:prstGeom prst="rect">
            <a:avLst/>
          </a:prstGeom>
          <a:solidFill>
            <a:srgbClr val="1E1F2A"/>
          </a:solidFill>
          <a:ln w="6350">
            <a:solidFill>
              <a:srgbClr val="2B5EB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64608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5E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예시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864608" y="16824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프롬프트: "전문직 승진심사 실시요령을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4864608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한국어 Word 파일로 만들어줘"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864608" y="21945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864608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제목·표·서식 자동 완성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864608" y="27066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회사 로고·컬러 적용 가능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4864608" y="2962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추적 변경·주석 지원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4864608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4864608" y="3474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적용: 보고서, 제안서,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4864608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매뉴얼, 계약서 등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07901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>
              <a:solidFill>
                <a:srgbClr val="FF000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854D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xlsx · pptx Skill 실전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Excel·PPT 파일도 Claude가 직접 생성 — 클릭 한 번으로 완성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4279392" cy="3291840"/>
          </a:xfrm>
          <a:prstGeom prst="rect">
            <a:avLst/>
          </a:prstGeom>
          <a:solidFill>
            <a:srgbClr val="EFF6FF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04672"/>
            <a:ext cx="4279392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" y="89611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xlsx Skill — Excel 자동 생성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1298448"/>
            <a:ext cx="4059936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4D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프롬프트: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4048" y="1645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4D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"케이에스모듈테크 견적서를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84048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4D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xlsx로 만들어줘: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4D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품목/수량/단가/합계 포함"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84048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4048" y="2743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수식 자동 입력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84048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셀 서식·테두리 완성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84048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회사명·로고 자동 삽입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84048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Excel에서 바로 수정 가능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45152" y="804672"/>
            <a:ext cx="4279392" cy="3291840"/>
          </a:xfrm>
          <a:prstGeom prst="rect">
            <a:avLst/>
          </a:prstGeom>
          <a:solidFill>
            <a:srgbClr val="FFF7ED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45152" y="804672"/>
            <a:ext cx="4279392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96112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175504" y="89611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 Skill — PPT 자동 생성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754880" y="1298448"/>
            <a:ext cx="4059936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2410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64608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4D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프롬프트: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864608" y="1645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4D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 도입 전략 PPT를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864608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4D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Dracula 테마로 7장 만들어줘"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4864608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864608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슬라이드 레이아웃 자동 설계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864608" y="2743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색상·폰트 테마 적용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864608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아이콘·차트 자동 삽입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4864608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지금 이 PPT도 이렇게 제작!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04546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1FA8C">
              <a:alpha val="80000"/>
            </a:srgbClr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for Excel &amp; Claude for PowerPoint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 Office 안에서 직접 Claude 사용 — 설치 없이 바로 시작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8759952" cy="621792"/>
          </a:xfrm>
          <a:prstGeom prst="rect">
            <a:avLst/>
          </a:prstGeom>
          <a:solidFill>
            <a:srgbClr val="313450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04672"/>
            <a:ext cx="73152" cy="621792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89611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Anthropic이 MS Office와 협력 — Excel·PowerPoint 안에 Claude가 내장됩니다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" y="1536192"/>
            <a:ext cx="4315968" cy="2560320"/>
          </a:xfrm>
          <a:prstGeom prst="rect">
            <a:avLst/>
          </a:prstGeom>
          <a:solidFill>
            <a:srgbClr val="313450"/>
          </a:solidFill>
          <a:ln w="15240">
            <a:solidFill>
              <a:srgbClr val="1D6F4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1536192"/>
            <a:ext cx="4315968" cy="54864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64208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59536" y="17007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in Excel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65760" y="21579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스프레드시트 데이터 분석·요약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65760" y="252374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복잡한 수식 자동 생성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65760" y="28895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데이터 패턴·이상값 탐지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65760" y="32552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차트 추천 및 인사이트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017520" y="2157984"/>
            <a:ext cx="1389888" cy="1737360"/>
          </a:xfrm>
          <a:prstGeom prst="rect">
            <a:avLst/>
          </a:prstGeom>
          <a:solidFill>
            <a:srgbClr val="1E1F2A"/>
          </a:solidFill>
          <a:ln w="6350">
            <a:solidFill>
              <a:srgbClr val="1D6F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17520" y="217627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072384" y="2432304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매출 데이터에서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분기별 트렌드 분석해줘"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00016" y="1536192"/>
            <a:ext cx="4315968" cy="2560320"/>
          </a:xfrm>
          <a:prstGeom prst="rect">
            <a:avLst/>
          </a:prstGeom>
          <a:solidFill>
            <a:srgbClr val="313450"/>
          </a:solidFill>
          <a:ln w="15240">
            <a:solidFill>
              <a:srgbClr val="C43E1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0016" y="1536192"/>
            <a:ext cx="4315968" cy="54864"/>
          </a:xfrm>
          <a:prstGeom prst="rect">
            <a:avLst/>
          </a:prstGeom>
          <a:solidFill>
            <a:srgbClr val="C43E1C"/>
          </a:solidFill>
          <a:ln w="12700">
            <a:solidFill>
              <a:srgbClr val="C43E1C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664208"/>
            <a:ext cx="402336" cy="40233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58384" y="17007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3E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in PowerPoint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4864608" y="21579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슬라이드 내용 자동 생성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864608" y="252374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발표자 노트 작성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864608" y="28895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디자인 개선 제안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864608" y="32552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텍스트 요약·확장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7516368" y="2157984"/>
            <a:ext cx="1389888" cy="1737360"/>
          </a:xfrm>
          <a:prstGeom prst="rect">
            <a:avLst/>
          </a:prstGeom>
          <a:solidFill>
            <a:srgbClr val="1E1F2A"/>
          </a:solidFill>
          <a:ln w="6350">
            <a:solidFill>
              <a:srgbClr val="C43E1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516368" y="217627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3E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7571232" y="2432304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내용으로 5장짜리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임원 보고 PPT 만들어줘"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164592" y="4206240"/>
            <a:ext cx="8759952" cy="566928"/>
          </a:xfrm>
          <a:prstGeom prst="rect">
            <a:avLst/>
          </a:prstGeom>
          <a:solidFill>
            <a:srgbClr val="F1FA8C">
              <a:alpha val="12000"/>
            </a:srgbClr>
          </a:solidFill>
          <a:ln w="6350">
            <a:solidFill>
              <a:srgbClr val="F1FA8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256032" y="4242816"/>
            <a:ext cx="8577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접근 방법: Excel/PowerPoint → 홈 탭 → Claude 아이콘 클릭  (Microsoft 365 구독 필요)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40498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BD93F9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세션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것을 직접 해보는 시간 — 지금 바로 claude.ai 접속!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2212848"/>
            <a:ext cx="4572000" cy="36576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260811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BD93F9">
              <a:alpha val="8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 안내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시연 → 참가자 따라하기 → 결과 공유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4279392" cy="1463040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877824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 준비 사항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1188720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claude.ai 접속 (스마트폰·노트북 모두 가능)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1517904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Google 또는 이메일로 무료 계정 생성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184708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화면 잘 보이는 자리 확인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5152" y="8046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45152" y="1152144"/>
            <a:ext cx="2103120" cy="640080"/>
          </a:xfrm>
          <a:prstGeom prst="rect">
            <a:avLst/>
          </a:prstGeom>
          <a:solidFill>
            <a:srgbClr val="1E1F2A"/>
          </a:solidFill>
          <a:ln w="10160">
            <a:solidFill>
              <a:srgbClr val="8BE9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22529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122529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대화 + 역할 부여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151790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⏱2분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76288" y="1152144"/>
            <a:ext cx="2103120" cy="640080"/>
          </a:xfrm>
          <a:prstGeom prst="rect">
            <a:avLst/>
          </a:prstGeom>
          <a:solidFill>
            <a:srgbClr val="1E1F2A"/>
          </a:solidFill>
          <a:ln w="10160">
            <a:solidFill>
              <a:srgbClr val="50FA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22529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51776" y="122529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초안 작성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51776" y="151790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⏱2분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45152" y="1901952"/>
            <a:ext cx="2103120" cy="640080"/>
          </a:xfrm>
          <a:prstGeom prst="rect">
            <a:avLst/>
          </a:prstGeom>
          <a:solidFill>
            <a:srgbClr val="1E1F2A"/>
          </a:solidFill>
          <a:ln w="10160">
            <a:solidFill>
              <a:srgbClr val="FFB8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19751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197510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 + 표 만들기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226771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⏱3분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76288" y="1901952"/>
            <a:ext cx="2103120" cy="640080"/>
          </a:xfrm>
          <a:prstGeom prst="rect">
            <a:avLst/>
          </a:prstGeom>
          <a:solidFill>
            <a:srgbClr val="1E1F2A"/>
          </a:solidFill>
          <a:ln w="10160">
            <a:solidFill>
              <a:srgbClr val="F1FA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19751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51776" y="197510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개선 연습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51776" y="226771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⏱2분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45152" y="2651760"/>
            <a:ext cx="2103120" cy="640080"/>
          </a:xfrm>
          <a:prstGeom prst="rect">
            <a:avLst/>
          </a:prstGeom>
          <a:solidFill>
            <a:srgbClr val="1E1F2A"/>
          </a:solidFill>
          <a:ln w="10160">
            <a:solidFill>
              <a:srgbClr val="BD93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272491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27249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 Skill — PPT 생성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301752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⏱3분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76288" y="2651760"/>
            <a:ext cx="2103120" cy="640080"/>
          </a:xfrm>
          <a:prstGeom prst="rect">
            <a:avLst/>
          </a:prstGeom>
          <a:solidFill>
            <a:srgbClr val="1E1F2A"/>
          </a:solidFill>
          <a:ln w="10160">
            <a:solidFill>
              <a:srgbClr val="1D6F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72491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51776" y="27249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xlsx Skill — Excel 생성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51776" y="301752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⏱3분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45152" y="3401568"/>
            <a:ext cx="2103120" cy="640080"/>
          </a:xfrm>
          <a:prstGeom prst="rect">
            <a:avLst/>
          </a:prstGeom>
          <a:solidFill>
            <a:srgbClr val="1E1F2A"/>
          </a:solidFill>
          <a:ln w="10160">
            <a:solidFill>
              <a:srgbClr val="2B5E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34747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34747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docx Skill — 보고서 생성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376732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⏱3분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76288" y="3401568"/>
            <a:ext cx="2103120" cy="640080"/>
          </a:xfrm>
          <a:prstGeom prst="rect">
            <a:avLst/>
          </a:prstGeom>
          <a:solidFill>
            <a:srgbClr val="1E1F2A"/>
          </a:solidFill>
          <a:ln w="10160">
            <a:solidFill>
              <a:srgbClr val="FF79C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34747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51776" y="34747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실습 &amp; 결과 공유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51776" y="376732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⏱3분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544304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BD93F9">
              <a:alpha val="8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대화 + 역할 부여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 접속 → 새 대화 시작 → 따라 입력해보세요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8759952" cy="1207008"/>
          </a:xfrm>
          <a:prstGeom prst="rect">
            <a:avLst/>
          </a:prstGeom>
          <a:solidFill>
            <a:srgbClr val="313450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04672"/>
            <a:ext cx="73152" cy="1207008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877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— 기본 인사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" y="1170432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 안녕! 나는 접착제 회사에서 일하는 연구원이야.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업무를 도와줄 수 있어?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" y="171907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Claude가 어떻게 반응하는지 확인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" y="2139696"/>
            <a:ext cx="8759952" cy="1207008"/>
          </a:xfrm>
          <a:prstGeom prst="rect">
            <a:avLst/>
          </a:prstGeom>
          <a:solidFill>
            <a:srgbClr val="313450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2139696"/>
            <a:ext cx="73152" cy="1207008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— 역할 부여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" y="2505456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 앞으로 너는 전문 기술 문서 작성 도우미야.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접착제·화학 분야 전문 용어를 잘 알고 있어.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" y="305409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역할을 부여하면 답변 품질이 높아짐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4592" y="3474720"/>
            <a:ext cx="8759952" cy="1207008"/>
          </a:xfrm>
          <a:prstGeom prst="rect">
            <a:avLst/>
          </a:prstGeom>
          <a:solidFill>
            <a:srgbClr val="313450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" y="3474720"/>
            <a:ext cx="73152" cy="1207008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— 확인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" y="384048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 네 역할을 한 줄로 설명해줘.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" y="438912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역할이 잘 설정됐는지 확인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25282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50FA7B">
              <a:alpha val="8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초안 작성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거래처에 보낼 이메일 — 프롬프트 하나로 완성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8759952" cy="1207008"/>
          </a:xfrm>
          <a:prstGeom prst="rect">
            <a:avLst/>
          </a:prstGeom>
          <a:solidFill>
            <a:srgbClr val="313450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8778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 상황 설정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1170432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A거래처에 신제품 접착제 샘플 발송 일정이 2주 연기됨 — 정중하게 사과하고 새 일정 안내하는 이메일 필요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21408"/>
            <a:ext cx="8759952" cy="1792224"/>
          </a:xfrm>
          <a:prstGeom prst="rect">
            <a:avLst/>
          </a:prstGeom>
          <a:solidFill>
            <a:srgbClr val="1E1F2A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94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 입력할 프롬프트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505456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"전문적인 비즈니스 이메일 작성 전문가로서 아래 내용으로 이메일을 써줘: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수신: A거래처 김철수 과장님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내용: 신제품 샘플 발송이 원자재 수급 문제로 2주 지연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새 발송 예정일: 4월 7일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형식: 제목·인사·본문·마무리 포함, 정중하고 전문적인 톤"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4592" y="4005072"/>
            <a:ext cx="8759952" cy="548640"/>
          </a:xfrm>
          <a:prstGeom prst="rect">
            <a:avLst/>
          </a:prstGeom>
          <a:solidFill>
            <a:srgbClr val="50FA7B">
              <a:alpha val="15000"/>
            </a:srgbClr>
          </a:solidFill>
          <a:ln w="6350">
            <a:solidFill>
              <a:srgbClr val="50F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4041648"/>
            <a:ext cx="8577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결과 확인: 제목·인사·본문·마무리가 모두 포함된 완성 이메일이 나왔나요?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95457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B86C">
              <a:alpha val="80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 + 표 만들기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내용을 3줄로 + 비교표 자동 생성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4279392" cy="3291840"/>
          </a:xfrm>
          <a:prstGeom prst="rect">
            <a:avLst/>
          </a:prstGeom>
          <a:solidFill>
            <a:srgbClr val="313450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04672"/>
            <a:ext cx="4279392" cy="54864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877824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실습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225296"/>
            <a:ext cx="4059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아무 긴 문서나 복사 (뉴스기사·보고서)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Claude에 붙여넣기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아래 프롬프트 입력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4059936" cy="987552"/>
          </a:xfrm>
          <a:prstGeom prst="rect">
            <a:avLst/>
          </a:prstGeom>
          <a:solidFill>
            <a:srgbClr val="1E1F2A"/>
          </a:solidFill>
          <a:ln w="6350">
            <a:solidFill>
              <a:srgbClr val="FFB8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03120"/>
            <a:ext cx="3877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내용을: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핵심 3줄 요약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중요 수치만 표로 정리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한 줄 결론"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090672"/>
            <a:ext cx="4059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50페이지도 1분 안에 핵심 파악!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5152" y="804672"/>
            <a:ext cx="4279392" cy="3291840"/>
          </a:xfrm>
          <a:prstGeom prst="rect">
            <a:avLst/>
          </a:prstGeom>
          <a:solidFill>
            <a:srgbClr val="313450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5152" y="804672"/>
            <a:ext cx="4279392" cy="54864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877824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 만들기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225296"/>
            <a:ext cx="4059936" cy="1371600"/>
          </a:xfrm>
          <a:prstGeom prst="rect">
            <a:avLst/>
          </a:prstGeom>
          <a:solidFill>
            <a:srgbClr val="1E1F2A"/>
          </a:solidFill>
          <a:ln w="6350">
            <a:solidFill>
              <a:srgbClr val="F1F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280160"/>
            <a:ext cx="38770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접착제 제품 3종을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비교표로 만들어줘: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항목: 접착력/내열성/가격/용도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제품: A형/B형/C형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형식: 마크다운 표"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670048"/>
            <a:ext cx="4059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즉시 사용 가능한 비교표 완성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Excel로 복사해서 활용 가능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03138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BD93F9">
              <a:alpha val="8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04·05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 실습 — PPT &amp; Excel 생성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Skills를 사용해서 실제 파일을 만들어봅시다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4279392" cy="3291840"/>
          </a:xfrm>
          <a:prstGeom prst="rect">
            <a:avLst/>
          </a:prstGeom>
          <a:solidFill>
            <a:srgbClr val="313450"/>
          </a:solidFill>
          <a:ln w="15240">
            <a:solidFill>
              <a:srgbClr val="C43E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04672"/>
            <a:ext cx="4279392" cy="54864"/>
          </a:xfrm>
          <a:prstGeom prst="rect">
            <a:avLst/>
          </a:prstGeom>
          <a:solidFill>
            <a:srgbClr val="C43E1C"/>
          </a:solidFill>
          <a:ln w="12700">
            <a:solidFill>
              <a:srgbClr val="C43E1C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" y="89611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3E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 Skill 실습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1298448"/>
            <a:ext cx="4059936" cy="1828800"/>
          </a:xfrm>
          <a:prstGeom prst="rect">
            <a:avLst/>
          </a:prstGeom>
          <a:solidFill>
            <a:srgbClr val="1E1F2A"/>
          </a:solidFill>
          <a:ln w="6350">
            <a:solidFill>
              <a:srgbClr val="C43E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1371600"/>
            <a:ext cx="38770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"우리 회사 고분자공학과의 접착제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신제품 소개 PPT를 3장으로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만들어줘: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제품 개요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주요 특징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적용 분야"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74320" y="3200400"/>
            <a:ext cx="4059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.pptx 파일 다운로드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PowerPoint에서 바로 열기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45152" y="804672"/>
            <a:ext cx="4279392" cy="3291840"/>
          </a:xfrm>
          <a:prstGeom prst="rect">
            <a:avLst/>
          </a:prstGeom>
          <a:solidFill>
            <a:srgbClr val="313450"/>
          </a:solidFill>
          <a:ln w="15240">
            <a:solidFill>
              <a:srgbClr val="1D6F4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45152" y="804672"/>
            <a:ext cx="4279392" cy="54864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96112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75504" y="89611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xlsx Skill 실습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754880" y="1298448"/>
            <a:ext cx="4059936" cy="1828800"/>
          </a:xfrm>
          <a:prstGeom prst="rect">
            <a:avLst/>
          </a:prstGeom>
          <a:solidFill>
            <a:srgbClr val="1E1F2A"/>
          </a:solidFill>
          <a:ln w="6350">
            <a:solidFill>
              <a:srgbClr val="1D6F4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46320" y="1371600"/>
            <a:ext cx="38770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"접착제 제품 견적서를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Excel로 만들어줘: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품목: 에폭시/아크릴/우레탄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수량/단가/합계 수식 포함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회사명: 고분자공학과"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754880" y="3200400"/>
            <a:ext cx="4059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.xlsx 파일 다운로드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Excel에서 수치 수정 가능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82573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79C6">
              <a:alpha val="80000"/>
            </a:srgbClr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실습 &amp; 결과 공유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가장 하고 싶은 업무에 Claude를 적용해보세요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8759952" cy="1005840"/>
          </a:xfrm>
          <a:prstGeom prst="rect">
            <a:avLst/>
          </a:prstGeom>
          <a:solidFill>
            <a:srgbClr val="313450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04672"/>
            <a:ext cx="73152" cy="1005840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9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자유 실습 주제 예시 (본인 업무에 맞게 선택하세요)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" y="1901952"/>
            <a:ext cx="2852928" cy="438912"/>
          </a:xfrm>
          <a:prstGeom prst="rect">
            <a:avLst/>
          </a:prstGeom>
          <a:solidFill>
            <a:srgbClr val="1E1F2A"/>
          </a:solidFill>
          <a:ln w="6350">
            <a:solidFill>
              <a:srgbClr val="FF79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3852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내일 있는 거래처 미팅 준비 자료 초안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54680" y="1901952"/>
            <a:ext cx="2852928" cy="438912"/>
          </a:xfrm>
          <a:prstGeom prst="rect">
            <a:avLst/>
          </a:prstGeom>
          <a:solidFill>
            <a:srgbClr val="1E1F2A"/>
          </a:solidFill>
          <a:ln w="6350">
            <a:solidFill>
              <a:srgbClr val="FF79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93852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이번 주 업무 주간 보고서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44768" y="1901952"/>
            <a:ext cx="2852928" cy="438912"/>
          </a:xfrm>
          <a:prstGeom prst="rect">
            <a:avLst/>
          </a:prstGeom>
          <a:solidFill>
            <a:srgbClr val="1E1F2A"/>
          </a:solidFill>
          <a:ln w="6350">
            <a:solidFill>
              <a:srgbClr val="FF79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93852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신제품 소개 이메일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4592" y="2432304"/>
            <a:ext cx="2852928" cy="438912"/>
          </a:xfrm>
          <a:prstGeom prst="rect">
            <a:avLst/>
          </a:prstGeom>
          <a:solidFill>
            <a:srgbClr val="1E1F2A"/>
          </a:solidFill>
          <a:ln w="6350">
            <a:solidFill>
              <a:srgbClr val="FF79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46888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실험 데이터 분석 요약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54680" y="2432304"/>
            <a:ext cx="2852928" cy="438912"/>
          </a:xfrm>
          <a:prstGeom prst="rect">
            <a:avLst/>
          </a:prstGeom>
          <a:solidFill>
            <a:srgbClr val="1E1F2A"/>
          </a:solidFill>
          <a:ln w="6350">
            <a:solidFill>
              <a:srgbClr val="FF79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246888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English 기술 사양서 번역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44768" y="2432304"/>
            <a:ext cx="2852928" cy="438912"/>
          </a:xfrm>
          <a:prstGeom prst="rect">
            <a:avLst/>
          </a:prstGeom>
          <a:solidFill>
            <a:srgbClr val="1E1F2A"/>
          </a:solidFill>
          <a:ln w="6350">
            <a:solidFill>
              <a:srgbClr val="FF79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46888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아이디어 브레인스토밍 (자유 주제)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4592" y="3054096"/>
            <a:ext cx="8759952" cy="914400"/>
          </a:xfrm>
          <a:prstGeom prst="rect">
            <a:avLst/>
          </a:prstGeom>
          <a:solidFill>
            <a:srgbClr val="313450"/>
          </a:solidFill>
          <a:ln w="12700">
            <a:solidFill>
              <a:srgbClr val="F1FA8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Shape 25"/>
          <p:cNvSpPr/>
          <p:nvPr/>
        </p:nvSpPr>
        <p:spPr>
          <a:xfrm>
            <a:off x="164592" y="3054096"/>
            <a:ext cx="73152" cy="914400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31272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🙋  결과 공유 — 참가자 화면 발표 (자원자 2~3명)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" y="343814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프롬프트를 썼는지 + 결과가 어떻게 나왔는지 30초씩 공유해주세요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61639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F79C6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&amp; 다음 단계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것을 정리하고 2회차를 예고합니다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2212848"/>
            <a:ext cx="4572000" cy="36576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144795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79C6">
              <a:alpha val="80000"/>
            </a:srgbClr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것 — 핵심 정리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이것만 기억하면 됩니다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804672"/>
            <a:ext cx="4315968" cy="1810512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804672"/>
            <a:ext cx="4315968" cy="54864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371600"/>
            <a:ext cx="475488" cy="475488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50976" y="9326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3요소 공식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" y="129844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+ 맥락 + 형식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좋은 답변의 공식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0016" y="804672"/>
            <a:ext cx="4315968" cy="1810512"/>
          </a:xfrm>
          <a:prstGeom prst="rect">
            <a:avLst/>
          </a:prstGeom>
          <a:solidFill>
            <a:srgbClr val="313450"/>
          </a:solidFill>
          <a:ln w="15240">
            <a:solidFill>
              <a:srgbClr val="50FA7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804672"/>
            <a:ext cx="4315968" cy="54864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4608" y="1371600"/>
            <a:ext cx="475488" cy="475488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49824" y="9326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업무에 바로 쓰는 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9824" y="129844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이메일·요약·번역·보고서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 → 5분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2798064"/>
            <a:ext cx="4315968" cy="1810512"/>
          </a:xfrm>
          <a:prstGeom prst="rect">
            <a:avLst/>
          </a:prstGeom>
          <a:solidFill>
            <a:srgbClr val="313450"/>
          </a:solidFill>
          <a:ln w="15240">
            <a:solidFill>
              <a:srgbClr val="F1FA8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2798064"/>
            <a:ext cx="4315968" cy="54864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364992"/>
            <a:ext cx="475488" cy="475488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0976" y="29260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Skills로 파일 자동 생성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0976" y="32918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PPT·Excel·Word·한글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하나로 완성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0016" y="2798064"/>
            <a:ext cx="4315968" cy="1810512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0016" y="2798064"/>
            <a:ext cx="4315968" cy="54864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3364992"/>
            <a:ext cx="475488" cy="475488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49824" y="29260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주의사항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9824" y="32918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기밀 정보는 절대 입력 금지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결과물은 반드시 검증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4592" y="4663440"/>
            <a:ext cx="8759952" cy="201168"/>
          </a:xfrm>
          <a:prstGeom prst="rect">
            <a:avLst/>
          </a:prstGeom>
          <a:solidFill>
            <a:srgbClr val="BD93F9">
              <a:alpha val="15000"/>
            </a:srgbClr>
          </a:solidFill>
          <a:ln w="6350">
            <a:solidFill>
              <a:srgbClr val="BD93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4681728"/>
            <a:ext cx="8577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프롬프트 공식 카드: "[역할]로서 [맥락]에 대해 [형식]으로 만들어줘"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2694669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82880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49057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기초활용 &amp; 연구지원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80960" y="49057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고분자 공학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79C6">
              <a:alpha val="80000"/>
            </a:srgbClr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&amp; Q&amp;A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 예고 + 질문 받겠습니다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804672"/>
            <a:ext cx="4279392" cy="3291840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Shape 10"/>
          <p:cNvSpPr/>
          <p:nvPr/>
        </p:nvSpPr>
        <p:spPr>
          <a:xfrm>
            <a:off x="164592" y="804672"/>
            <a:ext cx="4279392" cy="54864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87782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 2회차 예고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1261872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 + Claude Code 환경 구축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1664208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VS Code 설치 및 설정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06654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Claude Code 연동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468880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instruction.md 작성법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2871216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Skills 직접 만들기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27355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업무 자동화 파이프라인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4059936" cy="256032"/>
          </a:xfrm>
          <a:prstGeom prst="rect">
            <a:avLst/>
          </a:prstGeom>
          <a:solidFill>
            <a:srgbClr val="BD93F9">
              <a:alpha val="20000"/>
            </a:srgbClr>
          </a:solidFill>
          <a:ln w="6350">
            <a:solidFill>
              <a:srgbClr val="BD93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6732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 일정은 별도 공지 예정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45152" y="804672"/>
            <a:ext cx="4279392" cy="3291840"/>
          </a:xfrm>
          <a:prstGeom prst="rect">
            <a:avLst/>
          </a:prstGeom>
          <a:solidFill>
            <a:srgbClr val="313450"/>
          </a:solidFill>
          <a:ln w="15240">
            <a:solidFill>
              <a:srgbClr val="FF79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5152" y="804672"/>
            <a:ext cx="4279392" cy="54864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87782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9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🙋  Q&amp;A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126187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무엇이든 질문해주세요!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664208"/>
            <a:ext cx="4059936" cy="1828800"/>
          </a:xfrm>
          <a:prstGeom prst="rect">
            <a:avLst/>
          </a:prstGeom>
          <a:solidFill>
            <a:srgbClr val="1E1F2A"/>
          </a:solidFill>
          <a:ln w="6350">
            <a:solidFill>
              <a:srgbClr val="FF79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737360"/>
            <a:ext cx="387705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세미나 자료 공유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프롬프트 예시 모음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케이에스모듈테크 대표이사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김복기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4592" y="4206240"/>
            <a:ext cx="8759952" cy="566928"/>
          </a:xfrm>
          <a:prstGeom prst="rect">
            <a:avLst/>
          </a:prstGeom>
          <a:solidFill>
            <a:srgbClr val="FF79C6">
              <a:alpha val="15000"/>
            </a:srgbClr>
          </a:solidFill>
          <a:ln w="6350">
            <a:solidFill>
              <a:srgbClr val="FF79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242816"/>
            <a:ext cx="8577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9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🎉  오늘 세미나 수고 많으셨습니다! claude.ai에서 지금 바로 시작해보세요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1846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534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" y="157276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부산대학교 물리학과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1883664"/>
            <a:ext cx="1920240" cy="274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" y="195681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케이에스모듈테크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9728" y="228600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BE9F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대표이사  김복기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11480" y="2596896"/>
            <a:ext cx="1920240" cy="27432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" y="2670048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2026.03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11480" y="3200400"/>
            <a:ext cx="1920240" cy="347472"/>
          </a:xfrm>
          <a:prstGeom prst="rect">
            <a:avLst/>
          </a:prstGeom>
          <a:solidFill>
            <a:srgbClr val="FFB86C">
              <a:alpha val="85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B86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017520" y="329184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BD93F9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017520" y="102412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8F8F2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워크플로우 &amp; 고급 자동화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017520" y="15910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설치부터 Hooks·Sub-Agent·Skills까지 — 120분 완성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017520" y="1993392"/>
            <a:ext cx="1865376" cy="329184"/>
          </a:xfrm>
          <a:prstGeom prst="rect">
            <a:avLst/>
          </a:prstGeom>
          <a:solidFill>
            <a:srgbClr val="50FA7B">
              <a:alpha val="18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17520" y="199339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0FA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설치 &amp; 환경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10912" y="1993392"/>
            <a:ext cx="1865376" cy="329184"/>
          </a:xfrm>
          <a:prstGeom prst="rect">
            <a:avLst/>
          </a:prstGeom>
          <a:solidFill>
            <a:srgbClr val="8BE9FD">
              <a:alpha val="18000"/>
            </a:srgbClr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10912" y="199339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8BE9F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컨텍스트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004304" y="1993392"/>
            <a:ext cx="1865376" cy="329184"/>
          </a:xfrm>
          <a:prstGeom prst="rect">
            <a:avLst/>
          </a:prstGeom>
          <a:solidFill>
            <a:srgbClr val="50FA7B">
              <a:alpha val="18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04304" y="199339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0FA7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워크플로우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017520" y="2414016"/>
            <a:ext cx="1865376" cy="329184"/>
          </a:xfrm>
          <a:prstGeom prst="rect">
            <a:avLst/>
          </a:prstGeom>
          <a:solidFill>
            <a:srgbClr val="F1FA8C">
              <a:alpha val="18000"/>
            </a:srgbClr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17520" y="241401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1FA8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Skills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010912" y="2414016"/>
            <a:ext cx="1865376" cy="329184"/>
          </a:xfrm>
          <a:prstGeom prst="rect">
            <a:avLst/>
          </a:prstGeom>
          <a:solidFill>
            <a:srgbClr val="FFB86C">
              <a:alpha val="18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10912" y="241401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B86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Sub-Agent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7004304" y="2414016"/>
            <a:ext cx="1865376" cy="329184"/>
          </a:xfrm>
          <a:prstGeom prst="rect">
            <a:avLst/>
          </a:prstGeom>
          <a:solidFill>
            <a:srgbClr val="FF5555">
              <a:alpha val="18000"/>
            </a:srgbClr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04304" y="241401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5555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Hooks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1F2A"/>
          </a:solidFill>
          <a:ln w="12700">
            <a:solidFill>
              <a:srgbClr val="1E1F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26080" y="490575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272A4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2회차 — 실전 워크플로우 &amp; 고급 자동화  ·  고분자공학과 2026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062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EA9749F-CB1C-413A-BC12-257510E253C0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ee89a6df-804b-451a-a44c-6ac7ff5081e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2466</Words>
  <Application>Microsoft Office PowerPoint</Application>
  <PresentationFormat>화면 슬라이드 쇼(16:9)</PresentationFormat>
  <Paragraphs>542</Paragraphs>
  <Slides>30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Malgun Gothic</vt:lpstr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기초활용 &amp; 업무지원 세미나</dc:title>
  <dc:subject>PptxGenJS Presentation</dc:subject>
  <dc:creator>김복기</dc:creator>
  <cp:lastModifiedBy>Bog Kim</cp:lastModifiedBy>
  <cp:revision>13</cp:revision>
  <dcterms:created xsi:type="dcterms:W3CDTF">2026-03-21T07:47:41Z</dcterms:created>
  <dcterms:modified xsi:type="dcterms:W3CDTF">2026-04-15T03:29:02Z</dcterms:modified>
</cp:coreProperties>
</file>